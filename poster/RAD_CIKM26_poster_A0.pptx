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5784" cy="42803064"/>
  <p:notesSz cx="42803064" cy="3027578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AUPRC rank</c:v>
                </c:pt>
              </c:strCache>
            </c:strRef>
          </c:tx>
          <c:spPr>
            <a:solidFill>
              <a:srgbClr val="A3A8A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3A8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3A8A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3A8A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3A8A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3A8A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3A8A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A3A8A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A3A8A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A6A1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8A6A1E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Isolation Forest</c:v>
                  </c:pt>
                  <c:pt idx="1">
                    <c:v>Deep SVDD</c:v>
                  </c:pt>
                  <c:pt idx="2">
                    <c:v>DRL</c:v>
                  </c:pt>
                  <c:pt idx="3">
                    <c:v>AE</c:v>
                  </c:pt>
                  <c:pt idx="4">
                    <c:v>AE+Rank</c:v>
                  </c:pt>
                  <c:pt idx="5">
                    <c:v>RDL weighted</c:v>
                  </c:pt>
                  <c:pt idx="6">
                    <c:v>Supervised MLP</c:v>
                  </c:pt>
                  <c:pt idx="7">
                    <c:v>RDL unweighted</c:v>
                  </c:pt>
                  <c:pt idx="8">
                    <c:v>RAD (BCE)</c:v>
                  </c:pt>
                  <c:pt idx="9">
                    <c:v>RAD (no BCE)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9.3</c:v>
                </c:pt>
                <c:pt idx="1">
                  <c:v>8.7</c:v>
                </c:pt>
                <c:pt idx="2">
                  <c:v>8.2</c:v>
                </c:pt>
                <c:pt idx="3">
                  <c:v>7.3</c:v>
                </c:pt>
                <c:pt idx="4">
                  <c:v>5.2</c:v>
                </c:pt>
                <c:pt idx="5">
                  <c:v>4.8</c:v>
                </c:pt>
                <c:pt idx="6">
                  <c:v>4.7</c:v>
                </c:pt>
                <c:pt idx="7">
                  <c:v>3.8</c:v>
                </c:pt>
                <c:pt idx="8">
                  <c:v>1.8</c:v>
                </c:pt>
                <c:pt idx="9">
                  <c:v>1.2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20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Two-minute pitch. 1) Problem: in relational databases, anomalies often depend on context across tables; flattening loses that, and relational deep learning has no anomaly objective. 2) Idea: RAD mines random-forest rules, refines them with an LLM into compact predicates, and injects them as binary features into target nodes before message passing. A heterogeneous graph autoencoder is trained with reconstruction plus a pairwise ranking loss. 3) Benchmark: LANL red-team logins plus unexpected churn on Amazon and H&amp;M. 4) Results: best average AUPRC rank (1.2 of 10 methods); LANL AUPRC 0.659 vs 0.525 and P@k 0.601 vs 0.540. Amazon: RDL wins AUROC and P@k, RAD wins AUPRC. 5) Ablations: rules help, compact predicates beat raw RF features, edge reconstruction is optional. Results are stable across 0.5 to 3 percent prevalence.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75784" cy="53035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411480"/>
            <a:ext cx="16093440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Poster title</a:t>
            </a:r>
            <a:endParaRPr lang="en-US" sz="8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3200400"/>
            <a:ext cx="16093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3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0" Type="http://schemas.openxmlformats.org/officeDocument/2006/relationships/hyperlink" Target="https://doi.org/10.1145/3799682.3841086" TargetMode="External"/><Relationship Id="rId11" Type="http://schemas.openxmlformats.org/officeDocument/2006/relationships/hyperlink" Target="https://github.com/noahd15/RAD_RelationalAnomalyDetection" TargetMode="External"/><Relationship Id="rId6" Type="http://schemas.openxmlformats.org/officeDocument/2006/relationships/chart" Target="/ppt/charts/chart1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7" Type="http://schemas.openxmlformats.org/officeDocument/2006/relationships/image" Target="../media/image-1-6.png"/><Relationship Id="rId8" Type="http://schemas.openxmlformats.org/officeDocument/2006/relationships/image" Target="../media/image-1-7.png"/><Relationship Id="rId9" Type="http://schemas.openxmlformats.org/officeDocument/2006/relationships/image" Target="../media/image-1-8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411480"/>
            <a:ext cx="1609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</a:t>
            </a:r>
            <a:pPr algn="l" indent="0" marL="0">
              <a:buNone/>
            </a:pPr>
            <a:r>
              <a:rPr lang="en-US" sz="8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Rule-Augmented</a:t>
            </a:r>
            <a:endParaRPr lang="en-US" sz="8400" dirty="0"/>
          </a:p>
          <a:p>
            <a:pPr algn="l" indent="0" marL="0">
              <a:buNone/>
            </a:pPr>
            <a:r>
              <a:rPr lang="en-US" sz="8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Anomaly Detection</a:t>
            </a:r>
            <a:endParaRPr lang="en-US" sz="8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3200400"/>
            <a:ext cx="1609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Noah Dahle, Anne Tumlin, Ngoc Tran, Xenofon Koutsoukos, Tyler Derr</a:t>
            </a:r>
            <a:endParaRPr lang="en-US" sz="3600" dirty="0"/>
          </a:p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Vanderbilt University, Nashville, TN, USA</a:t>
            </a:r>
            <a:endParaRPr lang="en-US" sz="3600" dirty="0"/>
          </a:p>
          <a:p>
            <a:pPr indent="0" marL="0">
              <a:buNone/>
            </a:pPr>
            <a:r>
              <a:rPr lang="en-US" sz="3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CIKM ’26 · Rome, Italy</a:t>
            </a:r>
            <a:endParaRPr lang="en-US" sz="3600" dirty="0"/>
          </a:p>
        </p:txBody>
      </p:sp>
      <p:sp>
        <p:nvSpPr>
          <p:cNvPr id="4" name="QR frame"/>
          <p:cNvSpPr/>
          <p:nvPr/>
        </p:nvSpPr>
        <p:spPr>
          <a:xfrm>
            <a:off x="26160984" y="502920"/>
            <a:ext cx="3383280" cy="3383280"/>
          </a:xfrm>
          <a:prstGeom prst="roundRect">
            <a:avLst>
              <a:gd name="adj" fmla="val 4054"/>
            </a:avLst>
          </a:prstGeom>
          <a:solidFill>
            <a:schemeClr val="bg1"/>
          </a:solidFill>
          <a:ln/>
        </p:spPr>
      </p:sp>
      <p:pic>
        <p:nvPicPr>
          <p:cNvPr id="5" name="QR code" descr="QR code linking to github.com/noahd15/RAD_RelationalAnomalyDete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43864" y="685800"/>
            <a:ext cx="3017520" cy="3017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6160984" y="3931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Code &amp; data</a:t>
            </a:r>
            <a:endParaRPr lang="en-US" sz="2400" dirty="0"/>
          </a:p>
        </p:txBody>
      </p:sp>
      <p:sp>
        <p:nvSpPr>
          <p:cNvPr id="7" name="CIKM logo frame"/>
          <p:cNvSpPr/>
          <p:nvPr/>
        </p:nvSpPr>
        <p:spPr>
          <a:xfrm>
            <a:off x="21511612" y="502920"/>
            <a:ext cx="4283612" cy="3383280"/>
          </a:xfrm>
          <a:prstGeom prst="roundRect">
            <a:avLst>
              <a:gd name="adj" fmla="val 4054"/>
            </a:avLst>
          </a:prstGeom>
          <a:solidFill>
            <a:schemeClr val="bg1"/>
          </a:solidFill>
          <a:ln/>
        </p:spPr>
      </p:sp>
      <p:pic>
        <p:nvPicPr>
          <p:cNvPr id="8" name="CIKM logo" descr="CIKM 2026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0212" y="731520"/>
            <a:ext cx="3826412" cy="2926080"/>
          </a:xfrm>
          <a:prstGeom prst="rect">
            <a:avLst/>
          </a:prstGeom>
        </p:spPr>
      </p:pic>
      <p:pic>
        <p:nvPicPr>
          <p:cNvPr id="9" name="Vanderbilt logo" descr="Vanderbilt University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6673" y="822960"/>
            <a:ext cx="3906299" cy="2743200"/>
          </a:xfrm>
          <a:prstGeom prst="rect">
            <a:avLst/>
          </a:prstGeom>
        </p:spPr>
      </p:pic>
      <p:sp>
        <p:nvSpPr>
          <p:cNvPr id="10" name="Key message card"/>
          <p:cNvSpPr/>
          <p:nvPr/>
        </p:nvSpPr>
        <p:spPr>
          <a:xfrm>
            <a:off x="731520" y="5760720"/>
            <a:ext cx="28812744" cy="3291840"/>
          </a:xfrm>
          <a:prstGeom prst="roundRect">
            <a:avLst>
              <a:gd name="adj" fmla="val 69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6"/>
          <p:cNvSpPr txBox="1"/>
          <p:nvPr/>
        </p:nvSpPr>
        <p:spPr>
          <a:xfrm>
            <a:off x="1097280" y="6035040"/>
            <a:ext cx="11521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idea  </a:t>
            </a:r>
            <a:pPr indent="0" marL="0">
              <a:buNone/>
            </a:pPr>
            <a:r>
              <a:rPr lang="en-US" sz="3100" dirty="0">
                <a:solidFill>
                  <a:schemeClr val="tx1"/>
                </a:solidFill>
              </a:rPr>
              <a:t>Mine symbolic rules from the data, inject them into target nodes </a:t>
            </a:r>
            <a:pPr indent="0" marL="0">
              <a:buNone/>
            </a:pPr>
            <a:r>
              <a:rPr lang="en-US" sz="3100" b="1" i="1" dirty="0">
                <a:solidFill>
                  <a:schemeClr val="tx1"/>
                </a:solidFill>
              </a:rPr>
              <a:t>before</a:t>
            </a:r>
            <a:pPr indent="0" marL="0">
              <a:buNone/>
            </a:pPr>
            <a:r>
              <a:rPr lang="en-US" sz="3100" dirty="0">
                <a:solidFill>
                  <a:schemeClr val="tx1"/>
                </a:solidFill>
              </a:rPr>
              <a:t> graph message passing, and train a heterogeneous graph autoencoder with a ranking loss — better anomaly retrieval in multi-table databases.</a:t>
            </a:r>
            <a:endParaRPr lang="en-US" sz="3100" dirty="0"/>
          </a:p>
        </p:txBody>
      </p:sp>
      <p:sp>
        <p:nvSpPr>
          <p:cNvPr id="12" name="Stat 1"/>
          <p:cNvSpPr/>
          <p:nvPr/>
        </p:nvSpPr>
        <p:spPr>
          <a:xfrm>
            <a:off x="13167360" y="6035040"/>
            <a:ext cx="5093208" cy="27432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13441680" y="6172200"/>
            <a:ext cx="45445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8000" dirty="0"/>
          </a:p>
        </p:txBody>
      </p:sp>
      <p:sp>
        <p:nvSpPr>
          <p:cNvPr id="14" name="Text 9"/>
          <p:cNvSpPr txBox="1"/>
          <p:nvPr/>
        </p:nvSpPr>
        <p:spPr>
          <a:xfrm>
            <a:off x="13441680" y="7543800"/>
            <a:ext cx="45445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best average AUPRC rank of 10 methods across 3 benchmarks</a:t>
            </a:r>
            <a:endParaRPr lang="en-US" sz="2400" dirty="0"/>
          </a:p>
        </p:txBody>
      </p:sp>
      <p:sp>
        <p:nvSpPr>
          <p:cNvPr id="15" name="Stat 2"/>
          <p:cNvSpPr/>
          <p:nvPr/>
        </p:nvSpPr>
        <p:spPr>
          <a:xfrm>
            <a:off x="18626328" y="6035040"/>
            <a:ext cx="5093208" cy="27432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18900648" y="6172200"/>
            <a:ext cx="45445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0.659</a:t>
            </a:r>
            <a:endParaRPr lang="en-US" sz="8000" dirty="0"/>
          </a:p>
        </p:txBody>
      </p:sp>
      <p:sp>
        <p:nvSpPr>
          <p:cNvPr id="17" name="Text 12"/>
          <p:cNvSpPr txBox="1"/>
          <p:nvPr/>
        </p:nvSpPr>
        <p:spPr>
          <a:xfrm>
            <a:off x="18900648" y="7543800"/>
            <a:ext cx="45445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AUPRC on LANL cyber events vs 0.525 for the best baseline</a:t>
            </a:r>
            <a:endParaRPr lang="en-US" sz="2400" dirty="0"/>
          </a:p>
        </p:txBody>
      </p:sp>
      <p:sp>
        <p:nvSpPr>
          <p:cNvPr id="18" name="Stat 3"/>
          <p:cNvSpPr/>
          <p:nvPr/>
        </p:nvSpPr>
        <p:spPr>
          <a:xfrm>
            <a:off x="24085296" y="6035040"/>
            <a:ext cx="5093208" cy="27432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24359616" y="6172200"/>
            <a:ext cx="45445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0.601</a:t>
            </a:r>
            <a:endParaRPr lang="en-US" sz="8000" dirty="0"/>
          </a:p>
        </p:txBody>
      </p:sp>
      <p:sp>
        <p:nvSpPr>
          <p:cNvPr id="20" name="Text 15"/>
          <p:cNvSpPr txBox="1"/>
          <p:nvPr/>
        </p:nvSpPr>
        <p:spPr>
          <a:xfrm>
            <a:off x="24359616" y="7543800"/>
            <a:ext cx="45445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LANL precision@k: 60% of top alerts are real red-team logins (best baseline 0.540)</a:t>
            </a:r>
            <a:endParaRPr lang="en-US" sz="2400" dirty="0"/>
          </a:p>
        </p:txBody>
      </p:sp>
      <p:sp>
        <p:nvSpPr>
          <p:cNvPr id="21" name="Card 1"/>
          <p:cNvSpPr/>
          <p:nvPr/>
        </p:nvSpPr>
        <p:spPr>
          <a:xfrm>
            <a:off x="731520" y="9509760"/>
            <a:ext cx="9299448" cy="6126480"/>
          </a:xfrm>
          <a:prstGeom prst="roundRect">
            <a:avLst>
              <a:gd name="adj" fmla="val 37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Badge 1"/>
          <p:cNvSpPr/>
          <p:nvPr/>
        </p:nvSpPr>
        <p:spPr>
          <a:xfrm>
            <a:off x="1097280" y="9802368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1097280" y="98023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24" name="Heading 1"/>
          <p:cNvSpPr txBox="1"/>
          <p:nvPr/>
        </p:nvSpPr>
        <p:spPr>
          <a:xfrm>
            <a:off x="2148840" y="9802368"/>
            <a:ext cx="7516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4400" dirty="0"/>
          </a:p>
        </p:txBody>
      </p:sp>
      <p:sp>
        <p:nvSpPr>
          <p:cNvPr id="25" name="Text 20"/>
          <p:cNvSpPr txBox="1"/>
          <p:nvPr/>
        </p:nvSpPr>
        <p:spPr>
          <a:xfrm>
            <a:off x="1097280" y="10835640"/>
            <a:ext cx="85679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A login can look normal as a single row yet be suspicious given who logged in, where, and what happened just before. Such anomalies live across tables.</a:t>
            </a:r>
            <a:endParaRPr lang="en-US" sz="2600" dirty="0"/>
          </a:p>
        </p:txBody>
      </p:sp>
      <p:sp>
        <p:nvSpPr>
          <p:cNvPr id="26" name="Text 21"/>
          <p:cNvSpPr txBox="1"/>
          <p:nvPr/>
        </p:nvSpPr>
        <p:spPr>
          <a:xfrm>
            <a:off x="1097280" y="12618720"/>
            <a:ext cx="856792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Flattening into one feature matrix loses entity identity, schema roles and multi-hop context</a:t>
            </a:r>
            <a:endParaRPr lang="en-US" sz="2600" dirty="0"/>
          </a:p>
          <a:p>
            <a:pPr marL="304800" indent="-3048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Relational deep learning keeps structure but has no anomaly objective</a:t>
            </a:r>
            <a:endParaRPr lang="en-US" sz="2600" dirty="0"/>
          </a:p>
          <a:p>
            <a:pPr marL="304800" indent="-3048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Symbolic rules capture behavior, but usually sit outside representation learning</a:t>
            </a:r>
            <a:endParaRPr lang="en-US" sz="2600" dirty="0"/>
          </a:p>
        </p:txBody>
      </p:sp>
      <p:sp>
        <p:nvSpPr>
          <p:cNvPr id="27" name="Card 2"/>
          <p:cNvSpPr/>
          <p:nvPr/>
        </p:nvSpPr>
        <p:spPr>
          <a:xfrm>
            <a:off x="731520" y="16093440"/>
            <a:ext cx="9299448" cy="7498080"/>
          </a:xfrm>
          <a:prstGeom prst="roundRect">
            <a:avLst>
              <a:gd name="adj" fmla="val 304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Badge 2"/>
          <p:cNvSpPr/>
          <p:nvPr/>
        </p:nvSpPr>
        <p:spPr>
          <a:xfrm>
            <a:off x="1097280" y="16386048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1097280" y="16386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30" name="Heading 2"/>
          <p:cNvSpPr txBox="1"/>
          <p:nvPr/>
        </p:nvSpPr>
        <p:spPr>
          <a:xfrm>
            <a:off x="2148840" y="16386048"/>
            <a:ext cx="7516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Benchmark</a:t>
            </a:r>
            <a:endParaRPr lang="en-US" sz="4400" dirty="0"/>
          </a:p>
        </p:txBody>
      </p:sp>
      <p:graphicFrame>
        <p:nvGraphicFramePr>
          <p:cNvPr id="2" name="Benchmar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7419320"/>
          <a:ext cx="8567928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828800"/>
                <a:gridCol w="1600200"/>
                <a:gridCol w="353872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bg1"/>
                          </a:solidFill>
                        </a:rPr>
                        <a:t>Task</a:t>
                      </a:r>
                      <a:endParaRPr lang="en-US" sz="21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bg1"/>
                          </a:solidFill>
                        </a:rPr>
                        <a:t>Target</a:t>
                      </a:r>
                      <a:endParaRPr lang="en-US" sz="21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bg1"/>
                          </a:solidFill>
                        </a:rPr>
                        <a:t>Records</a:t>
                      </a:r>
                      <a:endParaRPr lang="en-US" sz="21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bg1"/>
                          </a:solidFill>
                        </a:rPr>
                        <a:t>Anomaly</a:t>
                      </a:r>
                      <a:endParaRPr lang="en-US" sz="21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LANL</a:t>
                      </a:r>
                      <a:endParaRPr lang="en-US" sz="21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Auth event</a:t>
                      </a:r>
                      <a:endParaRPr lang="en-US" sz="21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1.65B</a:t>
                      </a:r>
                      <a:endParaRPr lang="en-US" sz="21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Red-team login</a:t>
                      </a:r>
                      <a:endParaRPr lang="en-US" sz="21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Amazon</a:t>
                      </a:r>
                      <a:endParaRPr lang="en-US" sz="21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Customer</a:t>
                      </a:r>
                      <a:endParaRPr lang="en-US" sz="21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15.0M</a:t>
                      </a:r>
                      <a:endParaRPr lang="en-US" sz="21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Unexpected review churn</a:t>
                      </a:r>
                      <a:endParaRPr lang="en-US" sz="21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H&amp;M</a:t>
                      </a:r>
                      <a:endParaRPr lang="en-US" sz="21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Customer</a:t>
                      </a:r>
                      <a:endParaRPr lang="en-US" sz="21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16.7M</a:t>
                      </a:r>
                      <a:endParaRPr lang="en-US" sz="21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Unexpected purchase churn</a:t>
                      </a:r>
                      <a:endParaRPr lang="en-US" sz="21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2" name="Churn label figure" descr="Unexpected-churn label construction: churned users with an expected prior activity decline are removed; the rest are anomalies.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19568160"/>
            <a:ext cx="8567928" cy="3601719"/>
          </a:xfrm>
          <a:prstGeom prst="rect">
            <a:avLst/>
          </a:prstGeom>
        </p:spPr>
      </p:pic>
      <p:sp>
        <p:nvSpPr>
          <p:cNvPr id="33" name="Card 3"/>
          <p:cNvSpPr/>
          <p:nvPr/>
        </p:nvSpPr>
        <p:spPr>
          <a:xfrm>
            <a:off x="10488168" y="9509760"/>
            <a:ext cx="19056096" cy="14081760"/>
          </a:xfrm>
          <a:prstGeom prst="roundRect">
            <a:avLst>
              <a:gd name="adj" fmla="val 162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Badge 3"/>
          <p:cNvSpPr/>
          <p:nvPr/>
        </p:nvSpPr>
        <p:spPr>
          <a:xfrm>
            <a:off x="10853928" y="9802368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10853928" y="98023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36" name="Heading 3"/>
          <p:cNvSpPr txBox="1"/>
          <p:nvPr/>
        </p:nvSpPr>
        <p:spPr>
          <a:xfrm>
            <a:off x="11905488" y="9802368"/>
            <a:ext cx="17273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RAD: Rule-Augmented Relational Anomaly Detection</a:t>
            </a:r>
            <a:endParaRPr lang="en-US" sz="4400" dirty="0"/>
          </a:p>
        </p:txBody>
      </p:sp>
      <p:pic>
        <p:nvPicPr>
          <p:cNvPr id="37" name="RAD overview figure" descr="Overview of RAD: rule mining with random forests and LLM refinement, rule-feature augmentation, relational graph construction, heterogeneous graph autoencoder and losses.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3928" y="10835640"/>
            <a:ext cx="12390120" cy="12402702"/>
          </a:xfrm>
          <a:prstGeom prst="rect">
            <a:avLst/>
          </a:prstGeom>
        </p:spPr>
      </p:pic>
      <p:sp>
        <p:nvSpPr>
          <p:cNvPr id="38" name="Step badge 1"/>
          <p:cNvSpPr/>
          <p:nvPr/>
        </p:nvSpPr>
        <p:spPr>
          <a:xfrm>
            <a:off x="23655528" y="10853928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9" name="Text 31"/>
          <p:cNvSpPr txBox="1"/>
          <p:nvPr/>
        </p:nvSpPr>
        <p:spPr>
          <a:xfrm>
            <a:off x="23655528" y="10853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</a:t>
            </a:r>
            <a:endParaRPr lang="en-US" sz="2600" dirty="0"/>
          </a:p>
        </p:txBody>
      </p:sp>
      <p:sp>
        <p:nvSpPr>
          <p:cNvPr id="40" name="Text 32"/>
          <p:cNvSpPr txBox="1"/>
          <p:nvPr/>
        </p:nvSpPr>
        <p:spPr>
          <a:xfrm>
            <a:off x="24405336" y="10835640"/>
            <a:ext cx="4773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graph</a:t>
            </a:r>
            <a:endParaRPr lang="en-US" sz="3000" dirty="0"/>
          </a:p>
        </p:txBody>
      </p:sp>
      <p:sp>
        <p:nvSpPr>
          <p:cNvPr id="41" name="Text 33"/>
          <p:cNvSpPr txBox="1"/>
          <p:nvPr/>
        </p:nvSpPr>
        <p:spPr>
          <a:xfrm>
            <a:off x="24405336" y="11494008"/>
            <a:ext cx="4773168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Rows become typed nodes, primary–foreign keys become typed edges; only data available at time t is used.</a:t>
            </a:r>
            <a:endParaRPr lang="en-US" sz="2400" dirty="0"/>
          </a:p>
        </p:txBody>
      </p:sp>
      <p:sp>
        <p:nvSpPr>
          <p:cNvPr id="42" name="Step badge 2"/>
          <p:cNvSpPr/>
          <p:nvPr/>
        </p:nvSpPr>
        <p:spPr>
          <a:xfrm>
            <a:off x="23655528" y="13341096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3" name="Text 35"/>
          <p:cNvSpPr txBox="1"/>
          <p:nvPr/>
        </p:nvSpPr>
        <p:spPr>
          <a:xfrm>
            <a:off x="23655528" y="13341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</a:t>
            </a:r>
            <a:endParaRPr lang="en-US" sz="2600" dirty="0"/>
          </a:p>
        </p:txBody>
      </p:sp>
      <p:sp>
        <p:nvSpPr>
          <p:cNvPr id="44" name="Text 36"/>
          <p:cNvSpPr txBox="1"/>
          <p:nvPr/>
        </p:nvSpPr>
        <p:spPr>
          <a:xfrm>
            <a:off x="24405336" y="13322808"/>
            <a:ext cx="4773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mining</a:t>
            </a:r>
            <a:endParaRPr lang="en-US" sz="3000" dirty="0"/>
          </a:p>
        </p:txBody>
      </p:sp>
      <p:sp>
        <p:nvSpPr>
          <p:cNvPr id="45" name="Text 37"/>
          <p:cNvSpPr txBox="1"/>
          <p:nvPr/>
        </p:nvSpPr>
        <p:spPr>
          <a:xfrm>
            <a:off x="24405336" y="13981176"/>
            <a:ext cx="4773168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Random-forest paths become conjunctive predicates, ranked by support, confidence and lift. An LLM prunes, tightens and merges them.</a:t>
            </a:r>
            <a:endParaRPr lang="en-US" sz="2400" dirty="0"/>
          </a:p>
        </p:txBody>
      </p:sp>
      <p:sp>
        <p:nvSpPr>
          <p:cNvPr id="46" name="Step badge 3"/>
          <p:cNvSpPr/>
          <p:nvPr/>
        </p:nvSpPr>
        <p:spPr>
          <a:xfrm>
            <a:off x="23655528" y="15828264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7" name="Text 39"/>
          <p:cNvSpPr txBox="1"/>
          <p:nvPr/>
        </p:nvSpPr>
        <p:spPr>
          <a:xfrm>
            <a:off x="23655528" y="158282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3</a:t>
            </a:r>
            <a:endParaRPr lang="en-US" sz="2600" dirty="0"/>
          </a:p>
        </p:txBody>
      </p:sp>
      <p:sp>
        <p:nvSpPr>
          <p:cNvPr id="48" name="Text 40"/>
          <p:cNvSpPr txBox="1"/>
          <p:nvPr/>
        </p:nvSpPr>
        <p:spPr>
          <a:xfrm>
            <a:off x="24405336" y="15809976"/>
            <a:ext cx="4773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injection</a:t>
            </a:r>
            <a:endParaRPr lang="en-US" sz="3000" dirty="0"/>
          </a:p>
        </p:txBody>
      </p:sp>
      <p:sp>
        <p:nvSpPr>
          <p:cNvPr id="49" name="Text 41"/>
          <p:cNvSpPr txBox="1"/>
          <p:nvPr/>
        </p:nvSpPr>
        <p:spPr>
          <a:xfrm>
            <a:off x="24405336" y="16468344"/>
            <a:ext cx="4773168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Each target node gets a binary rule vector r(v), concatenated to its features before message passing.</a:t>
            </a:r>
            <a:endParaRPr lang="en-US" sz="2400" dirty="0"/>
          </a:p>
        </p:txBody>
      </p:sp>
      <p:sp>
        <p:nvSpPr>
          <p:cNvPr id="50" name="Step badge 4"/>
          <p:cNvSpPr/>
          <p:nvPr/>
        </p:nvSpPr>
        <p:spPr>
          <a:xfrm>
            <a:off x="23655528" y="18315432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1" name="Text 43"/>
          <p:cNvSpPr txBox="1"/>
          <p:nvPr/>
        </p:nvSpPr>
        <p:spPr>
          <a:xfrm>
            <a:off x="23655528" y="18315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4</a:t>
            </a:r>
            <a:endParaRPr lang="en-US" sz="2600" dirty="0"/>
          </a:p>
        </p:txBody>
      </p:sp>
      <p:sp>
        <p:nvSpPr>
          <p:cNvPr id="52" name="Text 44"/>
          <p:cNvSpPr txBox="1"/>
          <p:nvPr/>
        </p:nvSpPr>
        <p:spPr>
          <a:xfrm>
            <a:off x="24405336" y="18297144"/>
            <a:ext cx="4773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Rule-aware scoring</a:t>
            </a:r>
            <a:endParaRPr lang="en-US" sz="3000" dirty="0"/>
          </a:p>
        </p:txBody>
      </p:sp>
      <p:sp>
        <p:nvSpPr>
          <p:cNvPr id="53" name="Text 45"/>
          <p:cNvSpPr txBox="1"/>
          <p:nvPr/>
        </p:nvSpPr>
        <p:spPr>
          <a:xfrm>
            <a:off x="24405336" y="18955512"/>
            <a:ext cx="4773168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2-layer heterogeneous GraphSAGE autoencoder trained with reconstruction + pairwise ranking loss.</a:t>
            </a:r>
            <a:endParaRPr lang="en-US" sz="2400" dirty="0"/>
          </a:p>
        </p:txBody>
      </p:sp>
      <p:sp>
        <p:nvSpPr>
          <p:cNvPr id="54" name="LLM note"/>
          <p:cNvSpPr/>
          <p:nvPr/>
        </p:nvSpPr>
        <p:spPr>
          <a:xfrm>
            <a:off x="23655528" y="20830032"/>
            <a:ext cx="5522976" cy="2395728"/>
          </a:xfrm>
          <a:prstGeom prst="roundRect">
            <a:avLst>
              <a:gd name="adj" fmla="val 5725"/>
            </a:avLst>
          </a:prstGeom>
          <a:solidFill>
            <a:schemeClr val="bg2"/>
          </a:solidFill>
          <a:ln/>
        </p:spPr>
      </p:sp>
      <p:sp>
        <p:nvSpPr>
          <p:cNvPr id="55" name="Text 47"/>
          <p:cNvSpPr txBox="1"/>
          <p:nvPr/>
        </p:nvSpPr>
        <p:spPr>
          <a:xfrm>
            <a:off x="23929848" y="20967192"/>
            <a:ext cx="497433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No label leakage.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The LLM only proposes predicates, which are re-validated on train/validation data. It never assigns labels or scores.</a:t>
            </a:r>
            <a:endParaRPr lang="en-US" sz="2200" dirty="0"/>
          </a:p>
        </p:txBody>
      </p:sp>
      <p:sp>
        <p:nvSpPr>
          <p:cNvPr id="56" name="Card 4"/>
          <p:cNvSpPr/>
          <p:nvPr/>
        </p:nvSpPr>
        <p:spPr>
          <a:xfrm>
            <a:off x="731520" y="24048720"/>
            <a:ext cx="19056096" cy="8412480"/>
          </a:xfrm>
          <a:prstGeom prst="roundRect">
            <a:avLst>
              <a:gd name="adj" fmla="val 271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7" name="Badge 4"/>
          <p:cNvSpPr/>
          <p:nvPr/>
        </p:nvSpPr>
        <p:spPr>
          <a:xfrm>
            <a:off x="1097280" y="24341328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8" name="Text 50"/>
          <p:cNvSpPr txBox="1"/>
          <p:nvPr/>
        </p:nvSpPr>
        <p:spPr>
          <a:xfrm>
            <a:off x="1097280" y="243413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59" name="Heading 4"/>
          <p:cNvSpPr txBox="1"/>
          <p:nvPr/>
        </p:nvSpPr>
        <p:spPr>
          <a:xfrm>
            <a:off x="2148840" y="24341328"/>
            <a:ext cx="17273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Results (10 seeds)</a:t>
            </a:r>
            <a:endParaRPr lang="en-US" sz="4400" dirty="0"/>
          </a:p>
        </p:txBody>
      </p:sp>
      <p:graphicFrame>
        <p:nvGraphicFramePr>
          <p:cNvPr id="3" name="Main 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25374600"/>
          <a:ext cx="18324576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245108"/>
                <a:gridCol w="1245108"/>
                <a:gridCol w="1245108"/>
                <a:gridCol w="1245108"/>
                <a:gridCol w="1245108"/>
                <a:gridCol w="1245108"/>
                <a:gridCol w="1245108"/>
                <a:gridCol w="1245108"/>
                <a:gridCol w="1245108"/>
                <a:gridCol w="1245108"/>
                <a:gridCol w="1245108"/>
                <a:gridCol w="1245108"/>
              </a:tblGrid>
              <a:tr h="475488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bg1"/>
                          </a:solidFill>
                        </a:rPr>
                        <a:t>LANL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bg1"/>
                          </a:solidFill>
                        </a:rPr>
                        <a:t>Amazon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bg1"/>
                          </a:solidFill>
                        </a:rPr>
                        <a:t>H&amp;M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bg1"/>
                          </a:solidFill>
                        </a:rPr>
                        <a:t>Avg. rank ↓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47548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</a:rPr>
                        <a:t>AUROC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</a:rPr>
                        <a:t>AUPRC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</a:rPr>
                        <a:t>P@k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</a:rPr>
                        <a:t>AUROC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</a:rPr>
                        <a:t>AUPRC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</a:rPr>
                        <a:t>P@k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</a:rPr>
                        <a:t>AUROC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</a:rPr>
                        <a:t>AUPRC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</a:rPr>
                        <a:t>P@k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</a:rPr>
                        <a:t>AUROC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</a:rPr>
                        <a:t>AUPRC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</a:rPr>
                        <a:t>P@k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</a:rPr>
                        <a:t>RAD (rules, no BCE)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2"/>
                          </a:solidFill>
                        </a:rPr>
                        <a:t>0.996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2"/>
                          </a:solidFill>
                        </a:rPr>
                        <a:t>0.659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2"/>
                          </a:solidFill>
                        </a:rPr>
                        <a:t>0.601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0.693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2"/>
                          </a:solidFill>
                        </a:rPr>
                        <a:t>0.043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0.050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2"/>
                          </a:solidFill>
                        </a:rPr>
                        <a:t>0.828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2"/>
                          </a:solidFill>
                        </a:rPr>
                        <a:t>0.143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2"/>
                          </a:solidFill>
                        </a:rPr>
                        <a:t>0.129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2"/>
                          </a:solidFill>
                        </a:rPr>
                        <a:t>2.0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2"/>
                          </a:solidFill>
                        </a:rPr>
                        <a:t>1.2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2"/>
                          </a:solidFill>
                        </a:rPr>
                        <a:t>2.0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</a:rPr>
                        <a:t>RAD (rules, BCE)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0.860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0.557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0.572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0.695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2"/>
                          </a:solidFill>
                        </a:rPr>
                        <a:t>0.043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0.051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0.787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0.110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0.125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3.3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1.8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2.3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RDL weighted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0.553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0.007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0.021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2"/>
                          </a:solidFill>
                        </a:rPr>
                        <a:t>0.720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0.037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2"/>
                          </a:solidFill>
                        </a:rPr>
                        <a:t>0.062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0.700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0.035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0.064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4.7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4.8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3.7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RDL unweighted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0.685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0.015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0.026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0.713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0.037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2"/>
                          </a:solidFill>
                        </a:rPr>
                        <a:t>0.062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0.693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0.039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0.064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4.3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3.8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3.3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AE+Rank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0.943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0.525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0.540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0.518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0.016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0.015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0.456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0.013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0.005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5.2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5.2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5.7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DRL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0.673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0.004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0.005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0.463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0.013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0.003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0.456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0.013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0.009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7.5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8.2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7.2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AE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0.888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0.009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0.000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0.474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0.014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0.014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0.408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0.012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0.007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6.7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7.3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7.8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Deep SVDD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0.736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0.005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0.001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0.458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0.013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0.003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0.412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0.012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0.002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7.7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8.7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8.8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Isolation Forest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0.644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0.003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0.000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0.450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0.013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0.001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0.402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0.012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0.004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9.7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9.3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9.5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Supervised MLP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0.965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0.050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0.093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0.659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0.027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0.041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0.642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0.027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0.039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4.0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4.7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4.7</a:t>
                      </a:r>
                      <a:endParaRPr lang="en-US" sz="210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1" name="Text 52"/>
          <p:cNvSpPr txBox="1"/>
          <p:nvPr/>
        </p:nvSpPr>
        <p:spPr>
          <a:xfrm>
            <a:off x="1097280" y="31263336"/>
            <a:ext cx="18324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chemeClr val="accent6"/>
                </a:solidFill>
              </a:rPr>
              <a:t>Means over 10 seeds (std. dev. in the paper). Bold = best per column. AUPRC and P@k matter most under heavy class imbalance.</a:t>
            </a:r>
            <a:endParaRPr lang="en-US" sz="2100" dirty="0"/>
          </a:p>
        </p:txBody>
      </p:sp>
      <p:sp>
        <p:nvSpPr>
          <p:cNvPr id="62" name="Card 5"/>
          <p:cNvSpPr/>
          <p:nvPr/>
        </p:nvSpPr>
        <p:spPr>
          <a:xfrm>
            <a:off x="20244816" y="24048720"/>
            <a:ext cx="9299448" cy="8412480"/>
          </a:xfrm>
          <a:prstGeom prst="roundRect">
            <a:avLst>
              <a:gd name="adj" fmla="val 271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3" name="Badge 5"/>
          <p:cNvSpPr/>
          <p:nvPr/>
        </p:nvSpPr>
        <p:spPr>
          <a:xfrm>
            <a:off x="20610576" y="24341328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4" name="Text 55"/>
          <p:cNvSpPr txBox="1"/>
          <p:nvPr/>
        </p:nvSpPr>
        <p:spPr>
          <a:xfrm>
            <a:off x="20610576" y="243413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65" name="Heading 5"/>
          <p:cNvSpPr txBox="1"/>
          <p:nvPr/>
        </p:nvSpPr>
        <p:spPr>
          <a:xfrm>
            <a:off x="21662136" y="24341328"/>
            <a:ext cx="7516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at a Glance</a:t>
            </a:r>
            <a:endParaRPr lang="en-US" sz="4400" dirty="0"/>
          </a:p>
        </p:txBody>
      </p:sp>
      <p:graphicFrame>
        <p:nvGraphicFramePr>
          <p:cNvPr id="66" name="Average AUPRC rank chart" descr=""/>
          <p:cNvGraphicFramePr/>
          <p:nvPr/>
        </p:nvGraphicFramePr>
        <p:xfrm>
          <a:off x="20610576" y="25374600"/>
          <a:ext cx="8567928" cy="5943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67" name="Text 57"/>
          <p:cNvSpPr txBox="1"/>
          <p:nvPr/>
        </p:nvSpPr>
        <p:spPr>
          <a:xfrm>
            <a:off x="20610576" y="31226760"/>
            <a:ext cx="8567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accent6"/>
                </a:solidFill>
              </a:rPr>
              <a:t>Average AUPRC rank across LANL, Amazon and H&amp;M (lower is better). Both RAD variants rank ahead of every baseline, including the supervised MLP.</a:t>
            </a:r>
            <a:endParaRPr lang="en-US" sz="2100" dirty="0"/>
          </a:p>
        </p:txBody>
      </p:sp>
      <p:sp>
        <p:nvSpPr>
          <p:cNvPr id="68" name="Card 6"/>
          <p:cNvSpPr/>
          <p:nvPr/>
        </p:nvSpPr>
        <p:spPr>
          <a:xfrm>
            <a:off x="731520" y="32918400"/>
            <a:ext cx="9299448" cy="8193024"/>
          </a:xfrm>
          <a:prstGeom prst="roundRect">
            <a:avLst>
              <a:gd name="adj" fmla="val 279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9" name="Badge 6"/>
          <p:cNvSpPr/>
          <p:nvPr/>
        </p:nvSpPr>
        <p:spPr>
          <a:xfrm>
            <a:off x="1097280" y="33211008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0" name="Text 60"/>
          <p:cNvSpPr txBox="1"/>
          <p:nvPr/>
        </p:nvSpPr>
        <p:spPr>
          <a:xfrm>
            <a:off x="1097280" y="332110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sp>
        <p:nvSpPr>
          <p:cNvPr id="71" name="Heading 6"/>
          <p:cNvSpPr txBox="1"/>
          <p:nvPr/>
        </p:nvSpPr>
        <p:spPr>
          <a:xfrm>
            <a:off x="2148840" y="33211008"/>
            <a:ext cx="7516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Matters? Ablations</a:t>
            </a:r>
            <a:endParaRPr lang="en-US" sz="4400" dirty="0"/>
          </a:p>
        </p:txBody>
      </p:sp>
      <p:pic>
        <p:nvPicPr>
          <p:cNvPr id="72" name="Ablation figure" descr="Ablation bar charts for LANL, Amazon and H&amp;M comparing RAD with and without BCE, GAE without rules, GAE with RF sampled rules and GAE with RF features.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34244280"/>
            <a:ext cx="8567928" cy="3690238"/>
          </a:xfrm>
          <a:prstGeom prst="rect">
            <a:avLst/>
          </a:prstGeom>
        </p:spPr>
      </p:pic>
      <p:sp>
        <p:nvSpPr>
          <p:cNvPr id="73" name="Text 62"/>
          <p:cNvSpPr txBox="1"/>
          <p:nvPr/>
        </p:nvSpPr>
        <p:spPr>
          <a:xfrm>
            <a:off x="1097280" y="38208838"/>
            <a:ext cx="8567928" cy="2628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Rules help: rule-augmented variants beat the no-rules GAE, most clearly on AUPRC</a:t>
            </a:r>
            <a:endParaRPr lang="en-US" sz="2400" dirty="0"/>
          </a:p>
          <a:p>
            <a:pPr marL="304800" indent="-3048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Compact predicates beat raw random-forest decision features</a:t>
            </a:r>
            <a:endParaRPr lang="en-US" sz="2400" dirty="0"/>
          </a:p>
          <a:p>
            <a:pPr marL="304800" indent="-3048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Edge reconstruction (BCE) is optional: the no-BCE variant ranks best overall</a:t>
            </a:r>
            <a:endParaRPr lang="en-US" sz="2400" dirty="0"/>
          </a:p>
        </p:txBody>
      </p:sp>
      <p:sp>
        <p:nvSpPr>
          <p:cNvPr id="74" name="Card 7"/>
          <p:cNvSpPr/>
          <p:nvPr/>
        </p:nvSpPr>
        <p:spPr>
          <a:xfrm>
            <a:off x="10488168" y="32918400"/>
            <a:ext cx="19056096" cy="8193024"/>
          </a:xfrm>
          <a:prstGeom prst="roundRect">
            <a:avLst>
              <a:gd name="adj" fmla="val 279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5" name="Badge 7"/>
          <p:cNvSpPr/>
          <p:nvPr/>
        </p:nvSpPr>
        <p:spPr>
          <a:xfrm>
            <a:off x="10853928" y="33211008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6" name="Text 65"/>
          <p:cNvSpPr txBox="1"/>
          <p:nvPr/>
        </p:nvSpPr>
        <p:spPr>
          <a:xfrm>
            <a:off x="10853928" y="332110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600" dirty="0"/>
          </a:p>
        </p:txBody>
      </p:sp>
      <p:sp>
        <p:nvSpPr>
          <p:cNvPr id="77" name="Heading 7"/>
          <p:cNvSpPr txBox="1"/>
          <p:nvPr/>
        </p:nvSpPr>
        <p:spPr>
          <a:xfrm>
            <a:off x="11905488" y="33211008"/>
            <a:ext cx="17273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 to the Anomaly Definition</a:t>
            </a:r>
            <a:endParaRPr lang="en-US" sz="4400" dirty="0"/>
          </a:p>
        </p:txBody>
      </p:sp>
      <p:pic>
        <p:nvPicPr>
          <p:cNvPr id="78" name="Sensitivity Amazon" descr="Amazon: AUROC and AUPRC of RAD vs supervised RDL at 0.5%, 1.5% and 3.0% anomaly prevalence.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62104" y="34244280"/>
            <a:ext cx="7200024" cy="5312664"/>
          </a:xfrm>
          <a:prstGeom prst="rect">
            <a:avLst/>
          </a:prstGeom>
        </p:spPr>
      </p:pic>
      <p:pic>
        <p:nvPicPr>
          <p:cNvPr id="79" name="Sensitivity H&amp;M" descr="H&amp;M: AUROC and AUPRC of RAD vs supervised RDL at 0.5%, 1.5% and 3.0% anomaly prevalence.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670304" y="34244280"/>
            <a:ext cx="7200024" cy="5312664"/>
          </a:xfrm>
          <a:prstGeom prst="rect">
            <a:avLst/>
          </a:prstGeom>
        </p:spPr>
      </p:pic>
      <p:sp>
        <p:nvSpPr>
          <p:cNvPr id="80" name="Text 67"/>
          <p:cNvSpPr txBox="1"/>
          <p:nvPr/>
        </p:nvSpPr>
        <p:spPr>
          <a:xfrm>
            <a:off x="10853928" y="39739824"/>
            <a:ext cx="183245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Varying the unexpected-churn prevalence (0.5%, 1.5%, 3.0%) leaves the RAD-vs-RDL comparison stable: the 1.5% default is not a cherry-picked threshold. Solid lines = AUROC, dotted = AUPRC.</a:t>
            </a:r>
            <a:endParaRPr lang="en-US" sz="2400" dirty="0"/>
          </a:p>
        </p:txBody>
      </p:sp>
      <p:sp>
        <p:nvSpPr>
          <p:cNvPr id="81" name="Text 68"/>
          <p:cNvSpPr txBox="1"/>
          <p:nvPr/>
        </p:nvSpPr>
        <p:spPr>
          <a:xfrm>
            <a:off x="731520" y="41385744"/>
            <a:ext cx="28812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Paper: </a:t>
            </a:r>
            <a:pPr indent="0" marL="0">
              <a:buNone/>
            </a:pPr>
            <a:r>
              <a:rPr lang="en-US" sz="2000" u="sng" dirty="0">
                <a:solidFill>
                  <a:schemeClr val="accent6"/>
                </a:solidFill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doi.org/10.1145/3799682.3841086</a:t>
            </a:r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    Code: </a:t>
            </a:r>
            <a:pPr indent="0" marL="0">
              <a:buNone/>
            </a:pPr>
            <a:r>
              <a:rPr lang="en-US" sz="2000" u="sng" dirty="0">
                <a:solidFill>
                  <a:schemeClr val="accent6"/>
                </a:solidFill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github.com/noahd15/RAD_RelationalAnomalyDetection</a:t>
            </a:r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    Supported by NSA (H98230-23-C-0279) and NSF (IIS-2239881, ECCS-2325417, IIS-2524380, DGE-2622415).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D Poster">
  <a:themeElements>
    <a:clrScheme name="RAD Poster">
      <a:dk1>
        <a:srgbClr val="1A1A1A"/>
      </a:dk1>
      <a:lt1>
        <a:srgbClr val="FFFFFF"/>
      </a:lt1>
      <a:dk2>
        <a:srgbClr val="1C1C1C"/>
      </a:dk2>
      <a:lt2>
        <a:srgbClr val="ECEEF1"/>
      </a:lt2>
      <a:accent1>
        <a:srgbClr val="CFAE70"/>
      </a:accent1>
      <a:accent2>
        <a:srgbClr val="8A6A1E"/>
      </a:accent2>
      <a:accent3>
        <a:srgbClr val="D62728"/>
      </a:accent3>
      <a:accent4>
        <a:srgbClr val="1F77B4"/>
      </a:accent4>
      <a:accent5>
        <a:srgbClr val="A3A8AF"/>
      </a:accent5>
      <a:accent6>
        <a:srgbClr val="5B6168"/>
      </a:accent6>
      <a:hlink>
        <a:srgbClr val="1F77B4"/>
      </a:hlink>
      <a:folHlink>
        <a:srgbClr val="8A6A1E"/>
      </a:folHlink>
    </a:clrScheme>
    <a:fontScheme name="RAD Post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RAD: Rule-Augmented Relational Anomaly Detection</dc:title>
  <dc:subject>CIKM 2026 poster</dc:subject>
  <dc:creator>Noah Dahle, Anne Tumlin, Ngoc Tran, Xenofon Koutsoukos, Tyler Derr</dc:creator>
  <cp:lastModifiedBy>Noah Dahle, Anne Tumlin, Ngoc Tran, Xenofon Koutsoukos, Tyler Derr</cp:lastModifiedBy>
  <cp:revision>1</cp:revision>
  <dcterms:created xsi:type="dcterms:W3CDTF">2026-10-26T15:48:20Z</dcterms:created>
  <dcterms:modified xsi:type="dcterms:W3CDTF">2026-10-26T15:48:20Z</dcterms:modified>
</cp:coreProperties>
</file>