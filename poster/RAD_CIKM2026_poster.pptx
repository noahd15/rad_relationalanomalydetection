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1B2A41"/>
                </a:solidFill>
                <a:latin typeface="+mj-lt"/>
              </a:defRPr>
            </a:pPr>
            <a:r>
              <a:rPr sz="2000" b="0" i="0" u="none" strike="noStrike">
                <a:solidFill>
                  <a:srgbClr val="1B2A41"/>
                </a:solidFill>
                <a:latin typeface="+mj-lt"/>
              </a:rPr>
              <a:t>Amazon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RAD</c:v>
                </c:pt>
              </c:strCache>
            </c:strRef>
          </c:tx>
          <c:spPr>
            <a:solidFill>
              <a:srgbClr val="C86F1B"/>
            </a:solidFill>
            <a:ln w="38100" cap="flat">
              <a:solidFill>
                <a:srgbClr val="C86F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C86F1B"/>
              </a:solidFill>
              <a:ln w="9525" cap="flat">
                <a:solidFill>
                  <a:srgbClr val="C86F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0.5%</c:v>
                  </c:pt>
                  <c:pt idx="1">
                    <c:v>1.5%</c:v>
                  </c:pt>
                  <c:pt idx="2">
                    <c:v>3.0%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0.0073</c:v>
                </c:pt>
                <c:pt idx="1">
                  <c:v>0.0272</c:v>
                </c:pt>
                <c:pt idx="2">
                  <c:v>0.0541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Supervised RDL</c:v>
                </c:pt>
              </c:strCache>
            </c:strRef>
          </c:tx>
          <c:spPr>
            <a:solidFill>
              <a:srgbClr val="2F6DB5"/>
            </a:solidFill>
            <a:ln w="38100" cap="flat">
              <a:solidFill>
                <a:srgbClr val="2F6D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2F6DB5"/>
              </a:solidFill>
              <a:ln w="9525" cap="flat">
                <a:solidFill>
                  <a:srgbClr val="2F6D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0.5%</c:v>
                  </c:pt>
                  <c:pt idx="1">
                    <c:v>1.5%</c:v>
                  </c:pt>
                  <c:pt idx="2">
                    <c:v>3.0%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0.0061</c:v>
                </c:pt>
                <c:pt idx="1">
                  <c:v>0.0198</c:v>
                </c:pt>
                <c:pt idx="2">
                  <c:v>0.0408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5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sz="1500" b="0" i="0" u="none" strike="noStrike">
                    <a:solidFill>
                      <a:srgbClr val="5B6670"/>
                    </a:solidFill>
                    <a:latin typeface="+mn-lt"/>
                  </a:rPr>
                  <a:t>target anomaly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0"/>
        </c:scaling>
        <c:delete val="0"/>
        <c:axPos val="l"/>
        <c:majorGridlines>
          <c:spPr>
            <a:ln w="9525" cap="flat">
              <a:solidFill>
                <a:srgbClr val="D5DC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5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sz="1500" b="0" i="0" u="none" strike="noStrike">
                    <a:solidFill>
                      <a:srgbClr val="5B6670"/>
                    </a:solidFill>
                    <a:latin typeface="+mn-lt"/>
                  </a:rPr>
                  <a:t>AUPRC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1B2A41"/>
                </a:solidFill>
                <a:latin typeface="+mj-lt"/>
              </a:defRPr>
            </a:pPr>
            <a:r>
              <a:rPr sz="2000" b="0" i="0" u="none" strike="noStrike">
                <a:solidFill>
                  <a:srgbClr val="1B2A41"/>
                </a:solidFill>
                <a:latin typeface="+mj-lt"/>
              </a:rPr>
              <a:t>H&amp;M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RAD</c:v>
                </c:pt>
              </c:strCache>
            </c:strRef>
          </c:tx>
          <c:spPr>
            <a:solidFill>
              <a:srgbClr val="C86F1B"/>
            </a:solidFill>
            <a:ln w="38100" cap="flat">
              <a:solidFill>
                <a:srgbClr val="C86F1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C86F1B"/>
              </a:solidFill>
              <a:ln w="9525" cap="flat">
                <a:solidFill>
                  <a:srgbClr val="C86F1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0.5%</c:v>
                  </c:pt>
                  <c:pt idx="1">
                    <c:v>1.5%</c:v>
                  </c:pt>
                  <c:pt idx="2">
                    <c:v>3.0%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0.0127</c:v>
                </c:pt>
                <c:pt idx="1">
                  <c:v>0.0199</c:v>
                </c:pt>
                <c:pt idx="2">
                  <c:v>0.041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Supervised RDL</c:v>
                </c:pt>
              </c:strCache>
            </c:strRef>
          </c:tx>
          <c:spPr>
            <a:solidFill>
              <a:srgbClr val="2F6DB5"/>
            </a:solidFill>
            <a:ln w="38100" cap="flat">
              <a:solidFill>
                <a:srgbClr val="2F6DB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1"/>
            <c:spPr>
              <a:solidFill>
                <a:srgbClr val="2F6DB5"/>
              </a:solidFill>
              <a:ln w="9525" cap="flat">
                <a:solidFill>
                  <a:srgbClr val="2F6DB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0.5%</c:v>
                  </c:pt>
                  <c:pt idx="1">
                    <c:v>1.5%</c:v>
                  </c:pt>
                  <c:pt idx="2">
                    <c:v>3.0%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0.0047</c:v>
                </c:pt>
                <c:pt idx="1">
                  <c:v>0.0161</c:v>
                </c:pt>
                <c:pt idx="2">
                  <c:v>0.0382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5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sz="1500" b="0" i="0" u="none" strike="noStrike">
                    <a:solidFill>
                      <a:srgbClr val="5B6670"/>
                    </a:solidFill>
                    <a:latin typeface="+mn-lt"/>
                  </a:rPr>
                  <a:t>target anomaly rate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0"/>
        </c:scaling>
        <c:delete val="0"/>
        <c:axPos val="l"/>
        <c:majorGridlines>
          <c:spPr>
            <a:ln w="9525" cap="flat">
              <a:solidFill>
                <a:srgbClr val="D5DC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500" b="0" i="0" u="none" strike="noStrike">
                    <a:solidFill>
                      <a:srgbClr val="5B6670"/>
                    </a:solidFill>
                    <a:latin typeface="+mn-lt"/>
                  </a:defRPr>
                </a:pPr>
                <a:r>
                  <a:rPr sz="1500" b="0" i="0" u="none" strike="noStrike">
                    <a:solidFill>
                      <a:srgbClr val="5B6670"/>
                    </a:solidFill>
                    <a:latin typeface="+mn-lt"/>
                  </a:rPr>
                  <a:t>AUPRC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600">
              <a:solidFill>
                <a:srgbClr val="1F29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7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731520" y="731520"/>
            <a:ext cx="28812744" cy="4846320"/>
          </a:xfrm>
          <a:prstGeom prst="roundRect">
            <a:avLst>
              <a:gd name="adj" fmla="val 339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1280160" y="1143000"/>
            <a:ext cx="207203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RAD: Rule-Augmented Relational Anomaly Detection</a:t>
            </a:r>
            <a:endParaRPr lang="en-US" sz="5800" dirty="0"/>
          </a:p>
        </p:txBody>
      </p:sp>
      <p:sp>
        <p:nvSpPr>
          <p:cNvPr id="4" name="authors"/>
          <p:cNvSpPr txBox="1"/>
          <p:nvPr/>
        </p:nvSpPr>
        <p:spPr>
          <a:xfrm>
            <a:off x="1280160" y="2743200"/>
            <a:ext cx="20720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</a:rPr>
              <a:t>Noah Dahle · Anne Tumlin · Ngoc Tran · Xenofon Koutsoukos · Tyler Derr</a:t>
            </a:r>
            <a:endParaRPr lang="en-US" sz="3400" dirty="0"/>
          </a:p>
        </p:txBody>
      </p:sp>
      <p:sp>
        <p:nvSpPr>
          <p:cNvPr id="5" name="affiliation"/>
          <p:cNvSpPr txBox="1"/>
          <p:nvPr/>
        </p:nvSpPr>
        <p:spPr>
          <a:xfrm>
            <a:off x="1280160" y="3474720"/>
            <a:ext cx="20720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D4E3"/>
                </a:solidFill>
              </a:rPr>
              <a:t>Vanderbilt University, Nashville, Tennessee, USA   ·   </a:t>
            </a:r>
            <a:pPr indent="0" marL="0">
              <a:buNone/>
            </a:pPr>
            <a:r>
              <a:rPr lang="en-US" sz="2800" i="1" dirty="0">
                <a:solidFill>
                  <a:srgbClr val="C9D4E3"/>
                </a:solidFill>
              </a:rPr>
              <a:t>CIKM ’26, Rome, Italy, November 7–11, 2026</a:t>
            </a:r>
            <a:endParaRPr lang="en-US" sz="2800" dirty="0"/>
          </a:p>
        </p:txBody>
      </p:sp>
      <p:sp>
        <p:nvSpPr>
          <p:cNvPr id="6" name="links"/>
          <p:cNvSpPr txBox="1"/>
          <p:nvPr/>
        </p:nvSpPr>
        <p:spPr>
          <a:xfrm>
            <a:off x="1280160" y="4251960"/>
            <a:ext cx="20720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D4E3"/>
                </a:solidFill>
              </a:rPr>
              <a:t>Paper: arxiv.org/abs/2608.23468   ·   Code: github.com/noahd15/RAD_RelationalAnomalyDetection   ·   noah.dahle@vanderbilt.edu</a:t>
            </a:r>
            <a:endParaRPr lang="en-US" sz="2100" dirty="0"/>
          </a:p>
        </p:txBody>
      </p:sp>
      <p:sp>
        <p:nvSpPr>
          <p:cNvPr id="7" name="qr frame Paper (arXiv)"/>
          <p:cNvSpPr/>
          <p:nvPr/>
        </p:nvSpPr>
        <p:spPr>
          <a:xfrm>
            <a:off x="22457664" y="109728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QR Paper (arXiv)" descr="/tmp/claude-1059315524/-isis-home-dahlenw-repos-RAD-submission/71aeed16-0632-4479-9740-8a7a5a716e0c/scratchpad/qr_pa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94824" y="1234440"/>
            <a:ext cx="3017520" cy="3017520"/>
          </a:xfrm>
          <a:prstGeom prst="rect">
            <a:avLst/>
          </a:prstGeom>
        </p:spPr>
      </p:pic>
      <p:sp>
        <p:nvSpPr>
          <p:cNvPr id="9" name="qr label Paper (arXiv)"/>
          <p:cNvSpPr txBox="1"/>
          <p:nvPr/>
        </p:nvSpPr>
        <p:spPr>
          <a:xfrm>
            <a:off x="22457664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Paper (arXiv)</a:t>
            </a:r>
            <a:endParaRPr lang="en-US" sz="2100" dirty="0"/>
          </a:p>
        </p:txBody>
      </p:sp>
      <p:sp>
        <p:nvSpPr>
          <p:cNvPr id="10" name="qr frame Code &amp; data"/>
          <p:cNvSpPr/>
          <p:nvPr/>
        </p:nvSpPr>
        <p:spPr>
          <a:xfrm>
            <a:off x="25932384" y="109728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QR Code &amp; data" descr="/tmp/claude-1059315524/-isis-home-dahlenw-repos-RAD-submission/71aeed16-0632-4479-9740-8a7a5a716e0c/scratchpad/qr_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9544" y="1234440"/>
            <a:ext cx="3017520" cy="3017520"/>
          </a:xfrm>
          <a:prstGeom prst="rect">
            <a:avLst/>
          </a:prstGeom>
        </p:spPr>
      </p:pic>
      <p:sp>
        <p:nvSpPr>
          <p:cNvPr id="12" name="qr label Code &amp;amp; data"/>
          <p:cNvSpPr txBox="1"/>
          <p:nvPr/>
        </p:nvSpPr>
        <p:spPr>
          <a:xfrm>
            <a:off x="25932384" y="4480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Code &amp; data</a:t>
            </a:r>
            <a:endParaRPr lang="en-US" sz="2100" dirty="0"/>
          </a:p>
        </p:txBody>
      </p:sp>
      <p:sp>
        <p:nvSpPr>
          <p:cNvPr id="13" name="panel: Why relational detection?"/>
          <p:cNvSpPr/>
          <p:nvPr/>
        </p:nvSpPr>
        <p:spPr>
          <a:xfrm>
            <a:off x="731520" y="6035040"/>
            <a:ext cx="9299448" cy="90525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14" name="heading: Why relational detection?"/>
          <p:cNvSpPr txBox="1"/>
          <p:nvPr/>
        </p:nvSpPr>
        <p:spPr>
          <a:xfrm>
            <a:off x="1097280" y="635508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relational detection?</a:t>
            </a:r>
            <a:endParaRPr lang="en-US" sz="3600" dirty="0"/>
          </a:p>
        </p:txBody>
      </p:sp>
      <p:sp>
        <p:nvSpPr>
          <p:cNvPr id="15" name="c1 intro"/>
          <p:cNvSpPr txBox="1"/>
          <p:nvPr/>
        </p:nvSpPr>
        <p:spPr>
          <a:xfrm>
            <a:off x="1097280" y="7269480"/>
            <a:ext cx="85679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Anomaly detection is central to cybersecurity, fraud, and healthcare, yet the data usually lives in </a:t>
            </a:r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multi-table relational databases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, not one feature matrix.</a:t>
            </a:r>
            <a:endParaRPr lang="en-US" sz="2400" dirty="0"/>
          </a:p>
        </p:txBody>
      </p:sp>
      <p:sp>
        <p:nvSpPr>
          <p:cNvPr id="16" name="c1 example"/>
          <p:cNvSpPr txBox="1"/>
          <p:nvPr/>
        </p:nvSpPr>
        <p:spPr>
          <a:xfrm>
            <a:off x="1097280" y="8641080"/>
            <a:ext cx="85679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5B6670"/>
                </a:solidFill>
              </a:rPr>
              <a:t>A login can look normal on its own, yet be suspicious because the user–machine pair never co-occurred, the machine is otherwise used only by service accounts, and the user hit four other machines in the last ten minutes.</a:t>
            </a:r>
            <a:endParaRPr lang="en-US" sz="2400" dirty="0"/>
          </a:p>
        </p:txBody>
      </p:sp>
      <p:sp>
        <p:nvSpPr>
          <p:cNvPr id="17" name="c1 gaps label"/>
          <p:cNvSpPr txBox="1"/>
          <p:nvPr/>
        </p:nvSpPr>
        <p:spPr>
          <a:xfrm>
            <a:off x="1097280" y="11109960"/>
            <a:ext cx="8567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Two gaps in current practice</a:t>
            </a:r>
            <a:endParaRPr lang="en-US" sz="2400" dirty="0"/>
          </a:p>
        </p:txBody>
      </p:sp>
      <p:sp>
        <p:nvSpPr>
          <p:cNvPr id="18" name="c1 gaps"/>
          <p:cNvSpPr txBox="1"/>
          <p:nvPr/>
        </p:nvSpPr>
        <p:spPr>
          <a:xfrm>
            <a:off x="1097280" y="11658600"/>
            <a:ext cx="82936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Flattening tables into one matrix (joins, aggregates, hand-crafted features) discards entity identity, schema roles, multi-hop dependencies, and temporal context.</a:t>
            </a:r>
            <a:endParaRPr lang="en-US" sz="2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Relational deep learning (RDL) keeps the structure but has no anomaly-oriented objective and no way to use symbolic evidence such as rules or analyst patterns.</a:t>
            </a:r>
            <a:endParaRPr lang="en-US" sz="2400" dirty="0"/>
          </a:p>
        </p:txBody>
      </p:sp>
      <p:sp>
        <p:nvSpPr>
          <p:cNvPr id="19" name="panel: Problem definition"/>
          <p:cNvSpPr/>
          <p:nvPr/>
        </p:nvSpPr>
        <p:spPr>
          <a:xfrm>
            <a:off x="731520" y="15544800"/>
            <a:ext cx="9299448" cy="57607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20" name="heading: Problem definition"/>
          <p:cNvSpPr txBox="1"/>
          <p:nvPr/>
        </p:nvSpPr>
        <p:spPr>
          <a:xfrm>
            <a:off x="1097280" y="1586484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21" name="c1 problem"/>
          <p:cNvSpPr txBox="1"/>
          <p:nvPr/>
        </p:nvSpPr>
        <p:spPr>
          <a:xfrm>
            <a:off x="1097280" y="16779240"/>
            <a:ext cx="85679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Given a database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D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with schema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S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, a target table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target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, and its heterogeneous graph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G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= (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V, E, τ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), learn a scoring function </a:t>
            </a:r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s : V</a:t>
            </a:r>
            <a:pPr indent="0" marL="0">
              <a:spcAft>
                <a:spcPts val="800"/>
              </a:spcAft>
              <a:buNone/>
            </a:pPr>
            <a:r>
              <a:rPr lang="en-US" sz="2400" b="1" baseline="-40000" dirty="0">
                <a:solidFill>
                  <a:srgbClr val="1F2933"/>
                </a:solidFill>
              </a:rPr>
              <a:t>target</a:t>
            </a:r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 → ℝ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so that anomalous target nodes rank above normal ones: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s(v</a:t>
            </a:r>
            <a:pPr indent="0" marL="0">
              <a:spcAft>
                <a:spcPts val="8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) &gt; s(v</a:t>
            </a:r>
            <a:pPr indent="0" marL="0">
              <a:spcAft>
                <a:spcPts val="8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j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)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whenever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y</a:t>
            </a:r>
            <a:pPr indent="0" marL="0">
              <a:spcAft>
                <a:spcPts val="8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= 1 and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y</a:t>
            </a:r>
            <a:pPr indent="0" marL="0">
              <a:spcAft>
                <a:spcPts val="8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j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= 0.</a:t>
            </a:r>
            <a:endParaRPr lang="en-US" sz="2400" dirty="0"/>
          </a:p>
        </p:txBody>
      </p:sp>
      <p:sp>
        <p:nvSpPr>
          <p:cNvPr id="22" name="c1 problem bullets"/>
          <p:cNvSpPr txBox="1"/>
          <p:nvPr/>
        </p:nvSpPr>
        <p:spPr>
          <a:xfrm>
            <a:off x="1097280" y="19248120"/>
            <a:ext cx="829360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Evaluated on held-out target nodes as a ranking, not a calibrated per-instance label.</a:t>
            </a:r>
            <a:endParaRPr lang="en-US" sz="2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Temporal consistency: s(v) may use only structure and attributes observed at or before tᵥ.</a:t>
            </a:r>
            <a:endParaRPr lang="en-US" sz="2400" dirty="0"/>
          </a:p>
        </p:txBody>
      </p:sp>
      <p:sp>
        <p:nvSpPr>
          <p:cNvPr id="23" name="panel: Contributions"/>
          <p:cNvSpPr/>
          <p:nvPr/>
        </p:nvSpPr>
        <p:spPr>
          <a:xfrm>
            <a:off x="731520" y="21762720"/>
            <a:ext cx="9299448" cy="63093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24" name="heading: Contributions"/>
          <p:cNvSpPr txBox="1"/>
          <p:nvPr/>
        </p:nvSpPr>
        <p:spPr>
          <a:xfrm>
            <a:off x="1097280" y="2208276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3600" dirty="0"/>
          </a:p>
        </p:txBody>
      </p:sp>
      <p:sp>
        <p:nvSpPr>
          <p:cNvPr id="25" name="c1 contributions"/>
          <p:cNvSpPr txBox="1"/>
          <p:nvPr/>
        </p:nvSpPr>
        <p:spPr>
          <a:xfrm>
            <a:off x="1097280" y="22997160"/>
            <a:ext cx="8293608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We formalize relational anomaly detection as distinct from tabular and graph anomaly detection: anomalousness can depend on cross-table, multi-hop, temporal, and schema-dependent interactions.</a:t>
            </a:r>
            <a:endParaRPr lang="en-US" sz="2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RAD: mine rules from a flattened view, inject them into target nodes, and learn anomaly scores with heterogeneous message passing, reconstruction, and pairwise ranking.</a:t>
            </a:r>
            <a:endParaRPr lang="en-US" sz="2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A benchmark joining LANL cybersecurity event detection with two unexpected user-churn tasks built from Amazon and H&amp;M (RelBench), under one ranking protocol.</a:t>
            </a:r>
            <a:endParaRPr lang="en-US" sz="2400" dirty="0"/>
          </a:p>
        </p:txBody>
      </p:sp>
      <p:sp>
        <p:nvSpPr>
          <p:cNvPr id="26" name="panel: Benchmark: three tasks"/>
          <p:cNvSpPr/>
          <p:nvPr/>
        </p:nvSpPr>
        <p:spPr>
          <a:xfrm>
            <a:off x="731520" y="28529280"/>
            <a:ext cx="9299448" cy="1316736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27" name="heading: Benchmark: three tasks"/>
          <p:cNvSpPr txBox="1"/>
          <p:nvPr/>
        </p:nvSpPr>
        <p:spPr>
          <a:xfrm>
            <a:off x="1097280" y="2884932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Benchmark: three tasks</a:t>
            </a:r>
            <a:endParaRPr lang="en-US" sz="3600" dirty="0"/>
          </a:p>
        </p:txBody>
      </p:sp>
      <p:graphicFrame>
        <p:nvGraphicFramePr>
          <p:cNvPr id="2" name="benchma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9763720"/>
          <a:ext cx="8567928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08760"/>
                <a:gridCol w="914400"/>
                <a:gridCol w="1234440"/>
                <a:gridCol w="1234440"/>
                <a:gridCol w="2487168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Tables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Records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Targets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Anomaly</a:t>
                      </a:r>
                      <a:endParaRPr lang="en-US" sz="17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</a:rPr>
                        <a:t>LANL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Auth. event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7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1.65B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1.64M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Red-team authentication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</a:rPr>
                        <a:t>Amazon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Customer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15.0M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1.85M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Unexpected review churn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F2933"/>
                          </a:solidFill>
                        </a:rPr>
                        <a:t>H&amp;M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Customer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3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16.7M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1.37M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</a:rPr>
                        <a:t>Unexpected purchase churn</a:t>
                      </a:r>
                      <a:endParaRPr lang="en-US" sz="18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9" name="c1 churn"/>
          <p:cNvSpPr txBox="1"/>
          <p:nvPr/>
        </p:nvSpPr>
        <p:spPr>
          <a:xfrm>
            <a:off x="1097280" y="32552640"/>
            <a:ext cx="85679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Unexpected churn. 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Ordinary churn is often predictable, so a churned user is anomalous only if prior activity did </a:t>
            </a:r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not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already signal disengagement: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D(u)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= 1[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g</a:t>
            </a:r>
            <a:pPr indent="0" marL="0">
              <a:spcAft>
                <a:spcPts val="8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≤ −θ(μ</a:t>
            </a:r>
            <a:pPr indent="0" marL="0">
              <a:spcAft>
                <a:spcPts val="8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u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)], 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y</a:t>
            </a:r>
            <a:pPr indent="0" marL="0">
              <a:spcAft>
                <a:spcPts val="800"/>
              </a:spcAft>
              <a:buNone/>
            </a:pPr>
            <a:r>
              <a:rPr lang="en-US" sz="2400" i="1" baseline="30000" dirty="0">
                <a:solidFill>
                  <a:srgbClr val="1F2933"/>
                </a:solidFill>
              </a:rPr>
              <a:t>anom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=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y</a:t>
            </a:r>
            <a:pPr indent="0" marL="0">
              <a:spcAft>
                <a:spcPts val="800"/>
              </a:spcAft>
              <a:buNone/>
            </a:pPr>
            <a:r>
              <a:rPr lang="en-US" sz="2400" i="1" baseline="30000" dirty="0">
                <a:solidFill>
                  <a:srgbClr val="1F2933"/>
                </a:solidFill>
              </a:rPr>
              <a:t>churn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· (1 − </a:t>
            </a:r>
            <a:pPr indent="0" marL="0">
              <a:spcAft>
                <a:spcPts val="800"/>
              </a:spcAft>
              <a:buNone/>
            </a:pPr>
            <a:r>
              <a:rPr lang="en-US" sz="2400" i="1" dirty="0">
                <a:solidFill>
                  <a:srgbClr val="1F2933"/>
                </a:solidFill>
              </a:rPr>
              <a:t>D(u)</a:t>
            </a:r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). Default prevalence 1.5%; 0.5% and 3.0% in the sweep.</a:t>
            </a:r>
            <a:endParaRPr lang="en-US" sz="2400" dirty="0"/>
          </a:p>
        </p:txBody>
      </p:sp>
      <p:pic>
        <p:nvPicPr>
          <p:cNvPr id="30" name="Figure: unexpected-churn filtering" descr="/tmp/claude-1059315524/-isis-home-dahlenw-repos-RAD-submission/71aeed16-0632-4479-9740-8a7a5a716e0c/scratchpad/fig-0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5112960"/>
            <a:ext cx="8567928" cy="3601719"/>
          </a:xfrm>
          <a:prstGeom prst="rect">
            <a:avLst/>
          </a:prstGeom>
        </p:spPr>
      </p:pic>
      <p:sp>
        <p:nvSpPr>
          <p:cNvPr id="31" name="c1 fig2 caption"/>
          <p:cNvSpPr txBox="1"/>
          <p:nvPr/>
        </p:nvSpPr>
        <p:spPr>
          <a:xfrm>
            <a:off x="1097280" y="38851839"/>
            <a:ext cx="8567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5B6670"/>
                </a:solidFill>
              </a:rPr>
              <a:t>Churned users whose activity already declined are removed; the remaining churners are the unexpected-churn anomalies.</a:t>
            </a:r>
            <a:endParaRPr lang="en-US" sz="2100" dirty="0"/>
          </a:p>
        </p:txBody>
      </p:sp>
      <p:sp>
        <p:nvSpPr>
          <p:cNvPr id="32" name="c1 lanl"/>
          <p:cNvSpPr txBox="1"/>
          <p:nvPr/>
        </p:nvSpPr>
        <p:spPr>
          <a:xfrm>
            <a:off x="1097280" y="39811959"/>
            <a:ext cx="8567928" cy="1610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F2933"/>
                </a:solidFill>
              </a:rPr>
              <a:t>LANL. 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F2933"/>
                </a:solidFill>
              </a:rPr>
              <a:t>Authentication events are targets; red-team authentications are anomalies. We score sampled relational subgraphs around anchor events with their linked users, computers, processes, DNS, and flows.</a:t>
            </a:r>
            <a:endParaRPr lang="en-US" sz="2100" dirty="0"/>
          </a:p>
        </p:txBody>
      </p:sp>
      <p:sp>
        <p:nvSpPr>
          <p:cNvPr id="33" name="panel: RAD in four stages"/>
          <p:cNvSpPr/>
          <p:nvPr/>
        </p:nvSpPr>
        <p:spPr>
          <a:xfrm>
            <a:off x="10488168" y="6035040"/>
            <a:ext cx="9299448" cy="1435608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34" name="heading: RAD in four stages"/>
          <p:cNvSpPr txBox="1"/>
          <p:nvPr/>
        </p:nvSpPr>
        <p:spPr>
          <a:xfrm>
            <a:off x="10853928" y="635508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 in four stages</a:t>
            </a:r>
            <a:endParaRPr lang="en-US" sz="3600" dirty="0"/>
          </a:p>
        </p:txBody>
      </p:sp>
      <p:pic>
        <p:nvPicPr>
          <p:cNvPr id="35" name="Figure: RAD overview" descr="/tmp/claude-1059315524/-isis-home-dahlenw-repos-RAD-submission/71aeed16-0632-4479-9740-8a7a5a716e0c/scratchpad/fig1_hi-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4572" y="7178040"/>
            <a:ext cx="7406640" cy="7406640"/>
          </a:xfrm>
          <a:prstGeom prst="rect">
            <a:avLst/>
          </a:prstGeom>
        </p:spPr>
      </p:pic>
      <p:sp>
        <p:nvSpPr>
          <p:cNvPr id="36" name="c2 stages"/>
          <p:cNvSpPr txBox="1"/>
          <p:nvPr/>
        </p:nvSpPr>
        <p:spPr>
          <a:xfrm>
            <a:off x="10853928" y="14813280"/>
            <a:ext cx="8567928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2300" b="1" dirty="0">
                <a:solidFill>
                  <a:srgbClr val="C86F1B"/>
                </a:solidFill>
              </a:rPr>
              <a:t>1   </a:t>
            </a:r>
            <a:pPr indent="0" marL="0">
              <a:spcAft>
                <a:spcPts val="700"/>
              </a:spcAft>
              <a:buNone/>
            </a:pPr>
            <a:r>
              <a:rPr lang="en-US" sz="2300" b="1" dirty="0">
                <a:solidFill>
                  <a:srgbClr val="1F2933"/>
                </a:solidFill>
              </a:rPr>
              <a:t>Relational graph construction. </a:t>
            </a:r>
            <a:pPr indent="0" marL="0">
              <a:spcAft>
                <a:spcPts val="700"/>
              </a:spcAft>
              <a:buNone/>
            </a:pPr>
            <a:r>
              <a:rPr lang="en-US" sz="2300" dirty="0">
                <a:solidFill>
                  <a:srgbClr val="1F2933"/>
                </a:solidFill>
              </a:rPr>
              <a:t>Rows become typed nodes, primary–foreign keys become typed edges; type-specific input projections; temporal constraint respected.</a:t>
            </a:r>
            <a:pPr indent="0" marL="0">
              <a:spcAft>
                <a:spcPts val="700"/>
              </a:spcAft>
              <a:buNone/>
            </a:pPr>
            <a:endParaRPr lang="en-US" sz="2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300" b="1" dirty="0">
                <a:solidFill>
                  <a:srgbClr val="C86F1B"/>
                </a:solidFill>
              </a:rPr>
              <a:t>2   </a:t>
            </a:r>
            <a:pPr indent="0" marL="0">
              <a:spcAft>
                <a:spcPts val="700"/>
              </a:spcAft>
              <a:buNone/>
            </a:pPr>
            <a:r>
              <a:rPr lang="en-US" sz="2300" b="1" dirty="0">
                <a:solidFill>
                  <a:srgbClr val="1F2933"/>
                </a:solidFill>
              </a:rPr>
              <a:t>Rule mining and validation. </a:t>
            </a:r>
            <a:pPr indent="0" marL="0">
              <a:spcAft>
                <a:spcPts val="700"/>
              </a:spcAft>
              <a:buNone/>
            </a:pPr>
            <a:r>
              <a:rPr lang="en-US" sz="2300" dirty="0">
                <a:solidFill>
                  <a:srgbClr val="1F2933"/>
                </a:solidFill>
              </a:rPr>
              <a:t>A random forest on an auxiliary flattened view of the targets; each root-to-leaf path is a conjunctive predicate q(v) = c₁(v) ∧ … ∧ cₘ(v), ranked by support, confidence, and lift, then frozen.</a:t>
            </a:r>
            <a:pPr indent="0" marL="0">
              <a:spcAft>
                <a:spcPts val="700"/>
              </a:spcAft>
              <a:buNone/>
            </a:pPr>
            <a:endParaRPr lang="en-US" sz="2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300" b="1" dirty="0">
                <a:solidFill>
                  <a:srgbClr val="C86F1B"/>
                </a:solidFill>
              </a:rPr>
              <a:t>3   </a:t>
            </a:r>
            <a:pPr indent="0" marL="0">
              <a:spcAft>
                <a:spcPts val="700"/>
              </a:spcAft>
              <a:buNone/>
            </a:pPr>
            <a:r>
              <a:rPr lang="en-US" sz="2300" b="1" dirty="0">
                <a:solidFill>
                  <a:srgbClr val="1F2933"/>
                </a:solidFill>
              </a:rPr>
              <a:t>Rule-augmented node features. </a:t>
            </a:r>
            <a:pPr indent="0" marL="0">
              <a:spcAft>
                <a:spcPts val="700"/>
              </a:spcAft>
              <a:buNone/>
            </a:pPr>
            <a:r>
              <a:rPr lang="en-US" sz="2300" dirty="0">
                <a:solidFill>
                  <a:srgbClr val="1F2933"/>
                </a:solidFill>
              </a:rPr>
              <a:t>Each retained rule becomes a binary feature rₖ(v), concatenated to the target node before message passing.</a:t>
            </a:r>
            <a:pPr indent="0" marL="0">
              <a:spcAft>
                <a:spcPts val="700"/>
              </a:spcAft>
              <a:buNone/>
            </a:pPr>
            <a:endParaRPr lang="en-US" sz="2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2300" b="1" dirty="0">
                <a:solidFill>
                  <a:srgbClr val="C86F1B"/>
                </a:solidFill>
              </a:rPr>
              <a:t>4   </a:t>
            </a:r>
            <a:pPr indent="0" marL="0">
              <a:spcAft>
                <a:spcPts val="700"/>
              </a:spcAft>
              <a:buNone/>
            </a:pPr>
            <a:r>
              <a:rPr lang="en-US" sz="2300" b="1" dirty="0">
                <a:solidFill>
                  <a:srgbClr val="1F2933"/>
                </a:solidFill>
              </a:rPr>
              <a:t>Heterogeneous graph autoencoder. </a:t>
            </a:r>
            <a:pPr indent="0" marL="0">
              <a:spcAft>
                <a:spcPts val="700"/>
              </a:spcAft>
              <a:buNone/>
            </a:pPr>
            <a:r>
              <a:rPr lang="en-US" sz="2300" dirty="0">
                <a:solidFill>
                  <a:srgbClr val="1F2933"/>
                </a:solidFill>
              </a:rPr>
              <a:t>Two-layer relation-aware GraphSAGE; the anomaly score is the reconstruction error, trained with pairwise ranking supervision.</a:t>
            </a:r>
            <a:pPr indent="0" marL="0">
              <a:spcAft>
                <a:spcPts val="700"/>
              </a:spcAft>
              <a:buNone/>
            </a:pPr>
            <a:endParaRPr lang="en-US" sz="2300" dirty="0"/>
          </a:p>
        </p:txBody>
      </p:sp>
      <p:sp>
        <p:nvSpPr>
          <p:cNvPr id="37" name="panel: Design choice: direct injection"/>
          <p:cNvSpPr/>
          <p:nvPr/>
        </p:nvSpPr>
        <p:spPr>
          <a:xfrm>
            <a:off x="10488168" y="20848320"/>
            <a:ext cx="9299448" cy="6583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38" name="heading: Design choice: direct injection"/>
          <p:cNvSpPr txBox="1"/>
          <p:nvPr/>
        </p:nvSpPr>
        <p:spPr>
          <a:xfrm>
            <a:off x="10853928" y="2116836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choice: direct injection</a:t>
            </a:r>
            <a:endParaRPr lang="en-US" sz="3600" dirty="0"/>
          </a:p>
        </p:txBody>
      </p:sp>
      <p:sp>
        <p:nvSpPr>
          <p:cNvPr id="39" name="formula box: augmentation"/>
          <p:cNvSpPr/>
          <p:nvPr/>
        </p:nvSpPr>
        <p:spPr>
          <a:xfrm>
            <a:off x="10853928" y="22082760"/>
            <a:ext cx="8567928" cy="1463040"/>
          </a:xfrm>
          <a:prstGeom prst="roundRect">
            <a:avLst>
              <a:gd name="adj" fmla="val 75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0" name="formula: augmentation"/>
          <p:cNvSpPr txBox="1"/>
          <p:nvPr/>
        </p:nvSpPr>
        <p:spPr>
          <a:xfrm>
            <a:off x="10991088" y="22082760"/>
            <a:ext cx="82936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x̃</a:t>
            </a:r>
            <a:pPr algn="ctr" indent="0" marL="0">
              <a:buNone/>
            </a:pPr>
            <a:r>
              <a:rPr lang="en-US" sz="28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[ 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pPr algn="ctr" indent="0" marL="0">
              <a:buNone/>
            </a:pPr>
            <a:r>
              <a:rPr lang="en-US" sz="28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‖ 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]</a:t>
            </a:r>
            <a:pPr algn="ctr" indent="0" marL="0">
              <a:buNone/>
            </a:pP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[ 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28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), …, 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28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] ∈ {0,1}</a:t>
            </a:r>
            <a:pPr algn="ctr" indent="0" marL="0">
              <a:buNone/>
            </a:pPr>
            <a:r>
              <a:rPr lang="en-US" sz="2800" baseline="3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  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pPr algn="ctr" indent="0" marL="0">
              <a:buNone/>
            </a:pPr>
            <a:r>
              <a:rPr lang="en-US" sz="28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= 1 iff 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8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satisfies rule </a:t>
            </a:r>
            <a:pPr algn="ctr" indent="0" marL="0">
              <a:buNone/>
            </a:pPr>
            <a:r>
              <a:rPr lang="en-US" sz="28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800" dirty="0"/>
          </a:p>
        </p:txBody>
      </p:sp>
      <p:sp>
        <p:nvSpPr>
          <p:cNvPr id="41" name="c2 injection"/>
          <p:cNvSpPr txBox="1"/>
          <p:nvPr/>
        </p:nvSpPr>
        <p:spPr>
          <a:xfrm>
            <a:off x="10853928" y="23728680"/>
            <a:ext cx="829360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Rules enter the target node before graph encoding, so symbolic evidence shapes the learned representation and interacts with relational context.</a:t>
            </a:r>
            <a:endParaRPr lang="en-US" sz="2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Post-hoc fusion (adding rule scores after the graph model has scored) can nudge scores but cannot change what the encoder learned; the ablation favors direct injection.</a:t>
            </a:r>
            <a:endParaRPr lang="en-US" sz="2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Mining uses only training/validation labels; at test time the frozen predicates are simply evaluated.</a:t>
            </a:r>
            <a:endParaRPr lang="en-US" sz="2400" dirty="0"/>
          </a:p>
        </p:txBody>
      </p:sp>
      <p:sp>
        <p:nvSpPr>
          <p:cNvPr id="42" name="panel: Rule mining and refinement"/>
          <p:cNvSpPr/>
          <p:nvPr/>
        </p:nvSpPr>
        <p:spPr>
          <a:xfrm>
            <a:off x="10488168" y="27889200"/>
            <a:ext cx="9299448" cy="77724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43" name="heading: Rule mining and refinement"/>
          <p:cNvSpPr txBox="1"/>
          <p:nvPr/>
        </p:nvSpPr>
        <p:spPr>
          <a:xfrm>
            <a:off x="10853928" y="2820924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mining and refinement</a:t>
            </a:r>
            <a:endParaRPr lang="en-US" sz="3600" dirty="0"/>
          </a:p>
        </p:txBody>
      </p:sp>
      <p:sp>
        <p:nvSpPr>
          <p:cNvPr id="44" name="formula box: rule stats"/>
          <p:cNvSpPr/>
          <p:nvPr/>
        </p:nvSpPr>
        <p:spPr>
          <a:xfrm>
            <a:off x="10853928" y="29123640"/>
            <a:ext cx="8567928" cy="2011680"/>
          </a:xfrm>
          <a:prstGeom prst="roundRect">
            <a:avLst>
              <a:gd name="adj" fmla="val 5455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5" name="formula: rule stats"/>
          <p:cNvSpPr txBox="1"/>
          <p:nvPr/>
        </p:nvSpPr>
        <p:spPr>
          <a:xfrm>
            <a:off x="10991088" y="29123640"/>
            <a:ext cx="8293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(q) = Σ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v∈S</a:t>
            </a:r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1[q(v) = 1]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(q) = Σ 1[q(v) = 1 ∧ y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1]  /  Σ 1[q(v) = 1]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lift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(q) = confidence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(q) / π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ctr" indent="0" marL="0">
              <a:buNone/>
            </a:pP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π</a:t>
            </a:r>
            <a:pPr algn="ctr" indent="0" marL="0">
              <a:buNone/>
            </a:pPr>
            <a:r>
              <a:rPr lang="en-US" sz="2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pPr algn="ctr" indent="0" marL="0">
              <a:buNone/>
            </a:pPr>
            <a:r>
              <a:rPr lang="en-US" sz="2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anomaly prevalence on split S</a:t>
            </a:r>
            <a:endParaRPr lang="en-US" sz="2200" dirty="0"/>
          </a:p>
        </p:txBody>
      </p:sp>
      <p:sp>
        <p:nvSpPr>
          <p:cNvPr id="46" name="c2 mining"/>
          <p:cNvSpPr txBox="1"/>
          <p:nvPr/>
        </p:nvSpPr>
        <p:spPr>
          <a:xfrm>
            <a:off x="10853928" y="31318200"/>
            <a:ext cx="82936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Predicates touching identifiers, labels, unavailable columns, or future information are dropped, as are those below minimum coverage or duplicated.</a:t>
            </a:r>
            <a:endParaRPr lang="en-US" sz="2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Optional LLM step: given the schema, feature statistics, compact positives, and sampled seed rules, it proposes SQL WHERE predicates that prune, tighten, combine, or generalize them.</a:t>
            </a:r>
            <a:endParaRPr lang="en-US" sz="24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F2933"/>
                </a:solidFill>
              </a:rPr>
              <a:t>The LLM never labels, scores, or sees test data. Each proposal is re-executed and re-scored with the same support / confidence / lift filter: compaction, not a new signal.</a:t>
            </a:r>
            <a:endParaRPr lang="en-US" sz="2400" dirty="0"/>
          </a:p>
        </p:txBody>
      </p:sp>
      <p:sp>
        <p:nvSpPr>
          <p:cNvPr id="47" name="panel: Training objective"/>
          <p:cNvSpPr/>
          <p:nvPr/>
        </p:nvSpPr>
        <p:spPr>
          <a:xfrm>
            <a:off x="10488168" y="36118800"/>
            <a:ext cx="9299448" cy="557784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48" name="heading: Training objective"/>
          <p:cNvSpPr txBox="1"/>
          <p:nvPr/>
        </p:nvSpPr>
        <p:spPr>
          <a:xfrm>
            <a:off x="10853928" y="3643884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objective</a:t>
            </a:r>
            <a:endParaRPr lang="en-US" sz="3600" dirty="0"/>
          </a:p>
        </p:txBody>
      </p:sp>
      <p:sp>
        <p:nvSpPr>
          <p:cNvPr id="49" name="formula box: loss"/>
          <p:cNvSpPr/>
          <p:nvPr/>
        </p:nvSpPr>
        <p:spPr>
          <a:xfrm>
            <a:off x="10853928" y="37353240"/>
            <a:ext cx="8567928" cy="914400"/>
          </a:xfrm>
          <a:prstGeom prst="roundRect">
            <a:avLst>
              <a:gd name="adj" fmla="val 12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0" name="formula: loss"/>
          <p:cNvSpPr txBox="1"/>
          <p:nvPr/>
        </p:nvSpPr>
        <p:spPr>
          <a:xfrm>
            <a:off x="10991088" y="37353240"/>
            <a:ext cx="82936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pPr algn="ctr" indent="0" marL="0">
              <a:buNone/>
            </a:pPr>
            <a:r>
              <a:rPr lang="en-US" sz="3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</a:t>
            </a:r>
            <a:pPr algn="ctr" indent="0" marL="0">
              <a:buNone/>
            </a:pPr>
            <a:r>
              <a:rPr lang="en-US" sz="3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ℒ</a:t>
            </a:r>
            <a:pPr algn="ctr" indent="0" marL="0">
              <a:buNone/>
            </a:pPr>
            <a:r>
              <a:rPr lang="en-US" sz="3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</a:t>
            </a:r>
            <a:pPr algn="ctr" indent="0" marL="0">
              <a:buNone/>
            </a:pPr>
            <a:r>
              <a:rPr lang="en-US" sz="3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algn="ctr" indent="0" marL="0">
              <a:buNone/>
            </a:pPr>
            <a:r>
              <a:rPr lang="en-US" sz="3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ℒ</a:t>
            </a:r>
            <a:pPr algn="ctr" indent="0" marL="0">
              <a:buNone/>
            </a:pPr>
            <a:r>
              <a:rPr lang="en-US" sz="3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</a:t>
            </a:r>
            <a:pPr algn="ctr" indent="0" marL="0">
              <a:buNone/>
            </a:pPr>
            <a:r>
              <a:rPr lang="en-US" sz="32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</a:t>
            </a:r>
            <a:pPr algn="ctr" indent="0" marL="0">
              <a:buNone/>
            </a:pPr>
            <a:r>
              <a:rPr lang="en-US" sz="3200" i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ℒ</a:t>
            </a:r>
            <a:pPr algn="ctr" indent="0" marL="0">
              <a:buNone/>
            </a:pPr>
            <a:r>
              <a:rPr lang="en-US" sz="3200" baseline="-400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3200" dirty="0"/>
          </a:p>
        </p:txBody>
      </p:sp>
      <p:sp>
        <p:nvSpPr>
          <p:cNvPr id="51" name="c2 loss"/>
          <p:cNvSpPr txBox="1"/>
          <p:nvPr/>
        </p:nvSpPr>
        <p:spPr>
          <a:xfrm>
            <a:off x="10853928" y="38450520"/>
            <a:ext cx="856792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ℒ</a:t>
            </a:r>
            <a:pPr indent="0" marL="0">
              <a:spcAft>
                <a:spcPts val="600"/>
              </a:spcAft>
              <a:buNone/>
            </a:pPr>
            <a:r>
              <a:rPr lang="en-US" sz="2400" b="1" baseline="-40000" dirty="0">
                <a:solidFill>
                  <a:srgbClr val="1F2933"/>
                </a:solidFill>
              </a:rPr>
              <a:t>attr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= ‖x̃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− x̂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‖²  reconstructs rule-augmented target features; the error is the anomaly signal.</a:t>
            </a:r>
            <a:pPr indent="0" marL="0">
              <a:spcAft>
                <a:spcPts val="600"/>
              </a:spcAft>
              <a:buNone/>
            </a:pP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ℒ</a:t>
            </a:r>
            <a:pPr indent="0" marL="0">
              <a:spcAft>
                <a:spcPts val="600"/>
              </a:spcAft>
              <a:buNone/>
            </a:pPr>
            <a:r>
              <a:rPr lang="en-US" sz="2400" b="1" baseline="-40000" dirty="0">
                <a:solidFill>
                  <a:srgbClr val="1F2933"/>
                </a:solidFill>
              </a:rPr>
              <a:t>struct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 BCE on observed vs. sampled typed edges, â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uv</a:t>
            </a:r>
            <a:pPr indent="0" marL="0">
              <a:spcAft>
                <a:spcPts val="600"/>
              </a:spcAft>
              <a:buNone/>
            </a:pPr>
            <a:r>
              <a:rPr lang="en-US" sz="2400" baseline="30000" dirty="0">
                <a:solidFill>
                  <a:srgbClr val="1F2933"/>
                </a:solidFill>
              </a:rPr>
              <a:t>(r)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= σ(z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u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ᵀ W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z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v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). Optional: α = 0 in the “no BCE” variant.</a:t>
            </a:r>
            <a:pPr indent="0" marL="0">
              <a:spcAft>
                <a:spcPts val="600"/>
              </a:spcAft>
              <a:buNone/>
            </a:pPr>
            <a:endParaRPr lang="en-US" sz="2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1F2933"/>
                </a:solidFill>
              </a:rPr>
              <a:t>ℒ</a:t>
            </a:r>
            <a:pPr indent="0" marL="0">
              <a:spcAft>
                <a:spcPts val="600"/>
              </a:spcAft>
              <a:buNone/>
            </a:pPr>
            <a:r>
              <a:rPr lang="en-US" sz="2400" b="1" baseline="-40000" dirty="0">
                <a:solidFill>
                  <a:srgbClr val="1F2933"/>
                </a:solidFill>
              </a:rPr>
              <a:t>rank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= 𝔼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(i,j)∼P×N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[softplus(s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j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 − s</a:t>
            </a:r>
            <a:pPr indent="0" marL="0">
              <a:spcAft>
                <a:spcPts val="600"/>
              </a:spcAft>
              <a:buNone/>
            </a:pPr>
            <a:r>
              <a:rPr lang="en-US" sz="2400" baseline="-40000" dirty="0">
                <a:solidFill>
                  <a:srgbClr val="1F2933"/>
                </a:solidFill>
              </a:rPr>
              <a:t>i</a:t>
            </a:r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F2933"/>
                </a:solidFill>
              </a:rPr>
              <a:t>)]  ranks labeled anomalies above presumed normals: a ranking under heavy imbalance, not a classifier.</a:t>
            </a:r>
            <a:endParaRPr lang="en-US" sz="2400" dirty="0"/>
          </a:p>
        </p:txBody>
      </p:sp>
      <p:sp>
        <p:nvSpPr>
          <p:cNvPr id="52" name="panel: Main results (10 seeds)"/>
          <p:cNvSpPr/>
          <p:nvPr/>
        </p:nvSpPr>
        <p:spPr>
          <a:xfrm>
            <a:off x="20244816" y="6035040"/>
            <a:ext cx="9299448" cy="1088136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53" name="heading: Main results (10 seeds)"/>
          <p:cNvSpPr txBox="1"/>
          <p:nvPr/>
        </p:nvSpPr>
        <p:spPr>
          <a:xfrm>
            <a:off x="20610576" y="635508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results (10 seeds)</a:t>
            </a:r>
            <a:endParaRPr lang="en-US" sz="3600" dirty="0"/>
          </a:p>
        </p:txBody>
      </p:sp>
      <p:sp>
        <p:nvSpPr>
          <p:cNvPr id="54" name="callout best avg. AUPRC rank (next best 1.8)"/>
          <p:cNvSpPr txBox="1"/>
          <p:nvPr/>
        </p:nvSpPr>
        <p:spPr>
          <a:xfrm>
            <a:off x="20610576" y="7178040"/>
            <a:ext cx="2673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6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</a:t>
            </a:r>
            <a:endParaRPr lang="en-US" sz="5400" dirty="0"/>
          </a:p>
        </p:txBody>
      </p:sp>
      <p:sp>
        <p:nvSpPr>
          <p:cNvPr id="55" name="callout label best avg. AUPRC rank (next best 1.8)"/>
          <p:cNvSpPr txBox="1"/>
          <p:nvPr/>
        </p:nvSpPr>
        <p:spPr>
          <a:xfrm>
            <a:off x="20610576" y="8138160"/>
            <a:ext cx="2673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5B6670"/>
                </a:solidFill>
              </a:rPr>
              <a:t>best avg. AUPRC rank (next best 1.8)</a:t>
            </a:r>
            <a:endParaRPr lang="en-US" sz="2000" dirty="0"/>
          </a:p>
        </p:txBody>
      </p:sp>
      <p:sp>
        <p:nvSpPr>
          <p:cNvPr id="56" name="callout LANL AUPRC (next best 0.525)"/>
          <p:cNvSpPr txBox="1"/>
          <p:nvPr/>
        </p:nvSpPr>
        <p:spPr>
          <a:xfrm>
            <a:off x="23557992" y="7178040"/>
            <a:ext cx="2673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6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0.659</a:t>
            </a:r>
            <a:endParaRPr lang="en-US" sz="5400" dirty="0"/>
          </a:p>
        </p:txBody>
      </p:sp>
      <p:sp>
        <p:nvSpPr>
          <p:cNvPr id="57" name="callout label LANL AUPRC (next best 0.525)"/>
          <p:cNvSpPr txBox="1"/>
          <p:nvPr/>
        </p:nvSpPr>
        <p:spPr>
          <a:xfrm>
            <a:off x="23557992" y="8138160"/>
            <a:ext cx="2673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5B6670"/>
                </a:solidFill>
              </a:rPr>
              <a:t>LANL AUPRC (next best 0.525)</a:t>
            </a:r>
            <a:endParaRPr lang="en-US" sz="2000" dirty="0"/>
          </a:p>
        </p:txBody>
      </p:sp>
      <p:sp>
        <p:nvSpPr>
          <p:cNvPr id="58" name="callout H&amp;amp;M metrics where RAD is best"/>
          <p:cNvSpPr txBox="1"/>
          <p:nvPr/>
        </p:nvSpPr>
        <p:spPr>
          <a:xfrm>
            <a:off x="26505408" y="7178040"/>
            <a:ext cx="2673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86F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5400" dirty="0"/>
          </a:p>
        </p:txBody>
      </p:sp>
      <p:sp>
        <p:nvSpPr>
          <p:cNvPr id="59" name="callout label H&amp;M metrics where RAD is best"/>
          <p:cNvSpPr txBox="1"/>
          <p:nvPr/>
        </p:nvSpPr>
        <p:spPr>
          <a:xfrm>
            <a:off x="26505408" y="8138160"/>
            <a:ext cx="2673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5B6670"/>
                </a:solidFill>
              </a:rPr>
              <a:t>H&amp;M metrics where RAD is best</a:t>
            </a:r>
            <a:endParaRPr lang="en-US" sz="2000" dirty="0"/>
          </a:p>
        </p:txBody>
      </p:sp>
      <p:graphicFrame>
        <p:nvGraphicFramePr>
          <p:cNvPr id="3" name="main 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610576" y="9052560"/>
          <a:ext cx="8567928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64769"/>
                <a:gridCol w="664769"/>
                <a:gridCol w="664769"/>
                <a:gridCol w="664769"/>
                <a:gridCol w="664769"/>
                <a:gridCol w="664769"/>
                <a:gridCol w="664769"/>
                <a:gridCol w="664769"/>
                <a:gridCol w="664769"/>
                <a:gridCol w="664769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</a:rPr>
                        <a:t>LANL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</a:rPr>
                        <a:t>Amazon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</a:rPr>
                        <a:t>H&amp;M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</a:rPr>
                        <a:t>Rank</a:t>
                      </a:r>
                      <a:endParaRPr lang="en-US" sz="15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AUROC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AUPRC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P@k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AUROC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AUPRC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P@k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AUROC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AUPRC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P@k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AUPRC</a:t>
                      </a:r>
                      <a:endParaRPr lang="en-US" sz="12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RAD (no BCE)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.996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.659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.601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.693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.043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.050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.828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.143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.129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1.2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RAD (BCE)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.860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.557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.572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.695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.043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.051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.787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.110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.125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1.8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RDL weighted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.553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.021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.720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.037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.062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.700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.035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.064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4.8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RDL unweighted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.685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.026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.713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.037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C86F1B"/>
                          </a:solidFill>
                        </a:rPr>
                        <a:t>.062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.693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.039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.064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3.8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AE + Rank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.943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.525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.540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.518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.016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.456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5.2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DRL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.673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.004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.463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.456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.009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8.2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AE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.888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.009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.474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.014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.014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.408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7.3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Deep SVDD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.736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.001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.458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.412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8.7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Isolation Forest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.644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.450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.001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.402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.012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.004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9.3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Supervised MLP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.965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.050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.093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.659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.027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.041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.642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.027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.039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</a:rPr>
                        <a:t>4.7</a:t>
                      </a:r>
                      <a:endParaRPr lang="en-US" sz="1600" dirty="0"/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1" name="c3 results note"/>
          <p:cNvSpPr txBox="1"/>
          <p:nvPr/>
        </p:nvSpPr>
        <p:spPr>
          <a:xfrm>
            <a:off x="20610576" y="14767560"/>
            <a:ext cx="856792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1F2933"/>
                </a:solidFill>
              </a:rPr>
              <a:t>Amber</a:t>
            </a:r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F2933"/>
                </a:solidFill>
              </a:rPr>
              <a:t> = best per column; Rank = average AUPRC rank over the three datasets. AUPRC and P@k matter most under severe imbalance: analysts inspect only the top of the list. On Amazon, supervised RDL wins AUROC and P@k while RAD wins AUPRC; on LANL and H&amp;M, RAD leads clearly. Avg. AUROC rank: RAD 2.0, next best 3.3.</a:t>
            </a:r>
            <a:endParaRPr lang="en-US" sz="2100" dirty="0"/>
          </a:p>
        </p:txBody>
      </p:sp>
      <p:sp>
        <p:nvSpPr>
          <p:cNvPr id="62" name="panel: Ablations (RQ2–RQ4)"/>
          <p:cNvSpPr/>
          <p:nvPr/>
        </p:nvSpPr>
        <p:spPr>
          <a:xfrm>
            <a:off x="20244816" y="17373600"/>
            <a:ext cx="9299448" cy="87782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63" name="heading: Ablations (RQ2–RQ4)"/>
          <p:cNvSpPr txBox="1"/>
          <p:nvPr/>
        </p:nvSpPr>
        <p:spPr>
          <a:xfrm>
            <a:off x="20610576" y="1769364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Ablations (RQ2–RQ4)</a:t>
            </a:r>
            <a:endParaRPr lang="en-US" sz="3600" dirty="0"/>
          </a:p>
        </p:txBody>
      </p:sp>
      <p:pic>
        <p:nvPicPr>
          <p:cNvPr id="64" name="Figure: ablations" descr="/tmp/claude-1059315524/-isis-home-dahlenw-repos-RAD-submission/71aeed16-0632-4479-9740-8a7a5a716e0c/scratchpad/fig3_vec-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0576" y="18608040"/>
            <a:ext cx="8567928" cy="3778722"/>
          </a:xfrm>
          <a:prstGeom prst="rect">
            <a:avLst/>
          </a:prstGeom>
        </p:spPr>
      </p:pic>
      <p:sp>
        <p:nvSpPr>
          <p:cNvPr id="65" name="c3 ablation bullets"/>
          <p:cNvSpPr txBox="1"/>
          <p:nvPr/>
        </p:nvSpPr>
        <p:spPr>
          <a:xfrm>
            <a:off x="20610576" y="22569642"/>
            <a:ext cx="8293608" cy="330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3"/>
                </a:solidFill>
              </a:rPr>
              <a:t>Rules (RQ2): compact predicate rules beat a rule-free GAE and raw random-forest feature injection, most clearly on AUPRC and P@k.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3"/>
                </a:solidFill>
              </a:rPr>
              <a:t>LLM refinement (RQ4) helps most on LANL; elsewhere RF rules are competitive, so read it as rule compaction.</a:t>
            </a:r>
            <a:endParaRPr lang="en-US" sz="22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1F2933"/>
                </a:solidFill>
              </a:rPr>
              <a:t>Edge reconstruction (RQ3): the no-BCE variant is strongest overall; BCE hurts on LANL (noisy sampled topology), is neutral on Amazon, and loses on H&amp;M.</a:t>
            </a:r>
            <a:endParaRPr lang="en-US" sz="2200" dirty="0"/>
          </a:p>
        </p:txBody>
      </p:sp>
      <p:sp>
        <p:nvSpPr>
          <p:cNvPr id="66" name="panel: Label-prevalence sweep (RQ5)"/>
          <p:cNvSpPr/>
          <p:nvPr/>
        </p:nvSpPr>
        <p:spPr>
          <a:xfrm>
            <a:off x="20244816" y="26609040"/>
            <a:ext cx="9299448" cy="74066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9050">
            <a:solidFill>
              <a:srgbClr val="D5DCE5"/>
            </a:solidFill>
            <a:prstDash val="solid"/>
          </a:ln>
        </p:spPr>
      </p:sp>
      <p:sp>
        <p:nvSpPr>
          <p:cNvPr id="67" name="heading: Label-prevalence sweep (RQ5)"/>
          <p:cNvSpPr txBox="1"/>
          <p:nvPr/>
        </p:nvSpPr>
        <p:spPr>
          <a:xfrm>
            <a:off x="20610576" y="2692908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Label-prevalence sweep (RQ5)</a:t>
            </a:r>
            <a:endParaRPr lang="en-US" sz="3600" dirty="0"/>
          </a:p>
        </p:txBody>
      </p:sp>
      <p:graphicFrame>
        <p:nvGraphicFramePr>
          <p:cNvPr id="68" name="chart: Amazon prevalence sweep" descr=""/>
          <p:cNvGraphicFramePr/>
          <p:nvPr/>
        </p:nvGraphicFramePr>
        <p:xfrm>
          <a:off x="20610576" y="27843480"/>
          <a:ext cx="4146804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69" name="chart: H&amp;M prevalence sweep" descr=""/>
          <p:cNvGraphicFramePr/>
          <p:nvPr/>
        </p:nvGraphicFramePr>
        <p:xfrm>
          <a:off x="25031700" y="27843480"/>
          <a:ext cx="4146804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70" name="c3 sweep note"/>
          <p:cNvSpPr txBox="1"/>
          <p:nvPr/>
        </p:nvSpPr>
        <p:spPr>
          <a:xfrm>
            <a:off x="20610576" y="32049720"/>
            <a:ext cx="85679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rgbClr val="1F2933"/>
                </a:solidFill>
              </a:rPr>
              <a:t>Only the label-filtering rate changes (retained positives: Amazon 520 / 1575 / 3198; H&amp;M 71 / 214 / 434); graph, features, model, and protocol are fixed. RAD stays above supervised RDL on AUPRC at every rate, so the 1.5% default is not a cherry-picked threshold.</a:t>
            </a:r>
            <a:endParaRPr lang="en-US" sz="2100" dirty="0"/>
          </a:p>
        </p:txBody>
      </p:sp>
      <p:sp>
        <p:nvSpPr>
          <p:cNvPr id="71" name="panel: Takeaways"/>
          <p:cNvSpPr/>
          <p:nvPr/>
        </p:nvSpPr>
        <p:spPr>
          <a:xfrm>
            <a:off x="20244816" y="34472880"/>
            <a:ext cx="9299448" cy="7223760"/>
          </a:xfrm>
          <a:prstGeom prst="roundRect">
            <a:avLst>
              <a:gd name="adj" fmla="val 2278"/>
            </a:avLst>
          </a:prstGeom>
          <a:solidFill>
            <a:srgbClr val="1B2A41"/>
          </a:solidFill>
          <a:ln w="19050">
            <a:solidFill>
              <a:srgbClr val="1B2A41"/>
            </a:solidFill>
            <a:prstDash val="solid"/>
          </a:ln>
        </p:spPr>
      </p:sp>
      <p:sp>
        <p:nvSpPr>
          <p:cNvPr id="72" name="heading: Takeaways"/>
          <p:cNvSpPr txBox="1"/>
          <p:nvPr/>
        </p:nvSpPr>
        <p:spPr>
          <a:xfrm>
            <a:off x="20610576" y="34792920"/>
            <a:ext cx="85679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600" dirty="0"/>
          </a:p>
        </p:txBody>
      </p:sp>
      <p:sp>
        <p:nvSpPr>
          <p:cNvPr id="73" name="c3 takeaways"/>
          <p:cNvSpPr txBox="1"/>
          <p:nvPr/>
        </p:nvSpPr>
        <p:spPr>
          <a:xfrm>
            <a:off x="20610576" y="35707320"/>
            <a:ext cx="8293608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Relational anomaly detection is a joint problem of representation, scoring, and behavioral evidence; flattening alone or structure alone is not enough.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Where symbolic evidence enters matters: rules injected before message passing beat post-hoc fusion.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Ranking supervision drives retrieval under severe imbalance; edge reconstruction is dataset-dependent and should stay optional.</a:t>
            </a:r>
            <a:endParaRPr lang="en-US" sz="2400" dirty="0"/>
          </a:p>
          <a:p>
            <a:pPr marL="254000" indent="-254000">
              <a:spcAft>
                <a:spcPts val="9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Limits: rule mining needs labels and is bounded by the flattened view; Amazon/H&amp;M are evaluated on a validation partition (RelBench withholds test labels); LANL uses sampled subgraphs.</a:t>
            </a:r>
            <a:endParaRPr lang="en-US" sz="2400" dirty="0"/>
          </a:p>
        </p:txBody>
      </p:sp>
      <p:sp>
        <p:nvSpPr>
          <p:cNvPr id="74" name="footer"/>
          <p:cNvSpPr txBox="1"/>
          <p:nvPr/>
        </p:nvSpPr>
        <p:spPr>
          <a:xfrm>
            <a:off x="731520" y="41879520"/>
            <a:ext cx="28812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670"/>
                </a:solidFill>
              </a:rPr>
              <a:t>Supported by the National Security Agency (H98230-23-C-0279) and the National Science Foundation (IIS-2239881, ECCS-2325417, IIS-2524380, DGE-2622415).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D Poster">
  <a:themeElements>
    <a:clrScheme name="RAD Poster">
      <a:dk1>
        <a:srgbClr val="1F2933"/>
      </a:dk1>
      <a:lt1>
        <a:srgbClr val="FFFFFF"/>
      </a:lt1>
      <a:dk2>
        <a:srgbClr val="1B2A41"/>
      </a:dk2>
      <a:lt2>
        <a:srgbClr val="EEF2F7"/>
      </a:lt2>
      <a:accent1>
        <a:srgbClr val="C86F1B"/>
      </a:accent1>
      <a:accent2>
        <a:srgbClr val="2F6DB5"/>
      </a:accent2>
      <a:accent3>
        <a:srgbClr val="9AA5B1"/>
      </a:accent3>
      <a:accent4>
        <a:srgbClr val="2CA02C"/>
      </a:accent4>
      <a:accent5>
        <a:srgbClr val="D62728"/>
      </a:accent5>
      <a:accent6>
        <a:srgbClr val="9467BD"/>
      </a:accent6>
      <a:hlink>
        <a:srgbClr val="2F6DB5"/>
      </a:hlink>
      <a:folHlink>
        <a:srgbClr val="9467BD"/>
      </a:folHlink>
    </a:clrScheme>
    <a:fontScheme name="RAD Po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RAD: Rule-Augmented Relational Anomaly Detection (CIKM 2026 poster)</dc:title>
  <dc:subject>PptxGenJS Presentation</dc:subject>
  <dc:creator>Noah Dahle</dc:creator>
  <cp:lastModifiedBy>Noah Dahle</cp:lastModifiedBy>
  <cp:revision>1</cp:revision>
  <dcterms:created xsi:type="dcterms:W3CDTF">2026-10-03T00:27:41Z</dcterms:created>
  <dcterms:modified xsi:type="dcterms:W3CDTF">2026-10-03T00:27:41Z</dcterms:modified>
</cp:coreProperties>
</file>